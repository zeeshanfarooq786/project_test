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292608"/>
          </a:xfrm>
          <a:prstGeom prst="rect">
            <a:avLst/>
          </a:prstGeom>
          <a:noFill/>
        </p:spPr>
        <p:txBody>
          <a:bodyPr wrap="square">
            <a:spAutoFit/>
          </a:bodyPr>
          <a:lstStyle/>
          <a:p>
            <a:pPr algn="l"/>
            <a:r>
              <a:rPr sz="1100" b="1" i="0">
                <a:solidFill>
                  <a:srgbClr val="E8D48B"/>
                </a:solidFill>
                <a:latin typeface="Calibri"/>
                <a:ea typeface="Calibri"/>
                <a:cs typeface="Calibri"/>
              </a:rPr>
              <a:t>PAKISTAN POLICY BRIEFING  ·  CIVIC  ·  FISCAL  ·  REFORM</a:t>
            </a:r>
          </a:p>
        </p:txBody>
      </p:sp>
      <p:sp>
        <p:nvSpPr>
          <p:cNvPr id="5" name="Rectangle 4"/>
          <p:cNvSpPr/>
          <p:nvPr/>
        </p:nvSpPr>
        <p:spPr>
          <a:xfrm>
            <a:off x="502920" y="141732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00200"/>
            <a:ext cx="10972800" cy="1280160"/>
          </a:xfrm>
          <a:prstGeom prst="rect">
            <a:avLst/>
          </a:prstGeom>
          <a:noFill/>
        </p:spPr>
        <p:txBody>
          <a:bodyPr wrap="square">
            <a:spAutoFit/>
          </a:bodyPr>
          <a:lstStyle/>
          <a:p>
            <a:pPr algn="l"/>
            <a:r>
              <a:rPr sz="4800" b="1" i="0">
                <a:solidFill>
                  <a:srgbClr val="F6F1E6"/>
                </a:solidFill>
                <a:latin typeface="Georgia"/>
                <a:ea typeface="Georgia"/>
                <a:cs typeface="Georgia"/>
              </a:rPr>
              <a:t>A Documented Pakistan</a:t>
            </a:r>
          </a:p>
        </p:txBody>
      </p:sp>
      <p:sp>
        <p:nvSpPr>
          <p:cNvPr id="7" name="TextBox 6"/>
          <p:cNvSpPr txBox="1"/>
          <p:nvPr/>
        </p:nvSpPr>
        <p:spPr>
          <a:xfrm>
            <a:off x="502920" y="3063240"/>
            <a:ext cx="10241280" cy="1463040"/>
          </a:xfrm>
          <a:prstGeom prst="rect">
            <a:avLst/>
          </a:prstGeom>
          <a:noFill/>
        </p:spPr>
        <p:txBody>
          <a:bodyPr wrap="square">
            <a:spAutoFit/>
          </a:bodyPr>
          <a:lstStyle/>
          <a:p>
            <a:pPr algn="l"/>
            <a:r>
              <a:rPr sz="2000" b="0" i="0">
                <a:solidFill>
                  <a:srgbClr val="E8D48B"/>
                </a:solidFill>
                <a:latin typeface="Calibri"/>
                <a:ea typeface="Calibri"/>
                <a:cs typeface="Calibri"/>
              </a:rPr>
              <a:t>Tax compliance, a wider tax net, and a fairer economy: what it is, how we achieve it, who benefits, who is punished if the law is applied, and the problems we already live with by not doing it.</a:t>
            </a:r>
          </a:p>
        </p:txBody>
      </p:sp>
      <p:sp>
        <p:nvSpPr>
          <p:cNvPr id="8" name="TextBox 7"/>
          <p:cNvSpPr txBox="1"/>
          <p:nvPr/>
        </p:nvSpPr>
        <p:spPr>
          <a:xfrm>
            <a:off x="502920" y="6510528"/>
            <a:ext cx="7772400" cy="256032"/>
          </a:xfrm>
          <a:prstGeom prst="rect">
            <a:avLst/>
          </a:prstGeom>
          <a:noFill/>
        </p:spPr>
        <p:txBody>
          <a:bodyPr wrap="square">
            <a:spAutoFit/>
          </a:bodyPr>
          <a:lstStyle/>
          <a:p>
            <a:pPr algn="l"/>
            <a:r>
              <a:rPr sz="1000" b="0" i="0">
                <a:solidFill>
                  <a:srgbClr val="A8B5AE"/>
                </a:solidFill>
                <a:latin typeface="Calibri"/>
                <a:ea typeface="Calibri"/>
                <a:cs typeface="Calibri"/>
              </a:rPr>
              <a:t>Policy presentation  ·  For classroom / civic briefing use</a:t>
            </a:r>
          </a:p>
        </p:txBody>
      </p:sp>
      <p:sp>
        <p:nvSpPr>
          <p:cNvPr id="9" name="TextBox 8"/>
          <p:cNvSpPr txBox="1"/>
          <p:nvPr/>
        </p:nvSpPr>
        <p:spPr>
          <a:xfrm>
            <a:off x="8412480" y="6510528"/>
            <a:ext cx="3246120" cy="256032"/>
          </a:xfrm>
          <a:prstGeom prst="rect">
            <a:avLst/>
          </a:prstGeom>
          <a:noFill/>
        </p:spPr>
        <p:txBody>
          <a:bodyPr wrap="square">
            <a:spAutoFit/>
          </a:bodyPr>
          <a:lstStyle/>
          <a:p>
            <a:pPr algn="r"/>
            <a:r>
              <a:rPr sz="1000" b="0" i="0">
                <a:solidFill>
                  <a:srgbClr val="A8B5AE"/>
                </a:solidFill>
                <a:latin typeface="Calibri"/>
                <a:ea typeface="Calibri"/>
                <a:cs typeface="Calibri"/>
              </a:rP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292608"/>
          </a:xfrm>
          <a:prstGeom prst="rect">
            <a:avLst/>
          </a:prstGeom>
          <a:noFill/>
        </p:spPr>
        <p:txBody>
          <a:bodyPr wrap="square">
            <a:spAutoFit/>
          </a:bodyPr>
          <a:lstStyle/>
          <a:p>
            <a:pPr algn="l"/>
            <a:r>
              <a:rPr sz="1100" b="1" i="0">
                <a:solidFill>
                  <a:srgbClr val="C9A227"/>
                </a:solidFill>
                <a:latin typeface="Calibri"/>
                <a:ea typeface="Calibri"/>
                <a:cs typeface="Calibri"/>
              </a:rPr>
              <a:t>01  —  THE ARGUMENT</a:t>
            </a:r>
          </a:p>
        </p:txBody>
      </p:sp>
      <p:sp>
        <p:nvSpPr>
          <p:cNvPr id="6" name="TextBox 5"/>
          <p:cNvSpPr txBox="1"/>
          <p:nvPr/>
        </p:nvSpPr>
        <p:spPr>
          <a:xfrm>
            <a:off x="502920" y="566928"/>
            <a:ext cx="11155680" cy="1005840"/>
          </a:xfrm>
          <a:prstGeom prst="rect">
            <a:avLst/>
          </a:prstGeom>
          <a:noFill/>
        </p:spPr>
        <p:txBody>
          <a:bodyPr wrap="square">
            <a:spAutoFit/>
          </a:bodyPr>
          <a:lstStyle/>
          <a:p>
            <a:pPr algn="l"/>
            <a:r>
              <a:rPr sz="2800" b="1" i="0">
                <a:solidFill>
                  <a:srgbClr val="14201B"/>
                </a:solidFill>
                <a:latin typeface="Georgia"/>
                <a:ea typeface="Georgia"/>
                <a:cs typeface="Georgia"/>
              </a:rPr>
              <a:t>Pakistan does not have a revenue problem first.
It has a documentation problem.</a:t>
            </a:r>
          </a:p>
        </p:txBody>
      </p:sp>
      <p:sp>
        <p:nvSpPr>
          <p:cNvPr id="7" name="Rectangle 6"/>
          <p:cNvSpPr/>
          <p:nvPr/>
        </p:nvSpPr>
        <p:spPr>
          <a:xfrm>
            <a:off x="502920" y="169164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920240"/>
            <a:ext cx="5760720" cy="1280160"/>
          </a:xfrm>
          <a:prstGeom prst="rect">
            <a:avLst/>
          </a:prstGeom>
          <a:noFill/>
        </p:spPr>
        <p:txBody>
          <a:bodyPr wrap="square">
            <a:spAutoFit/>
          </a:bodyPr>
          <a:lstStyle/>
          <a:p>
            <a:pPr algn="l"/>
            <a:r>
              <a:rPr sz="1600" b="0" i="0">
                <a:solidFill>
                  <a:srgbClr val="5C6B64"/>
                </a:solidFill>
                <a:latin typeface="Calibri"/>
                <a:ea typeface="Calibri"/>
                <a:cs typeface="Calibri"/>
              </a:rPr>
              <a:t>A documented economy means sales, salaries, property, imports and bank flows are visible to the state — so tax can be collected fairly, credit can be given honestly, and policy can be based on facts rather than guesses.</a:t>
            </a:r>
          </a:p>
        </p:txBody>
      </p:sp>
      <p:sp>
        <p:nvSpPr>
          <p:cNvPr id="9" name="TextBox 8"/>
          <p:cNvSpPr txBox="1"/>
          <p:nvPr/>
        </p:nvSpPr>
        <p:spPr>
          <a:xfrm>
            <a:off x="502920" y="3246120"/>
            <a:ext cx="5760720" cy="2377440"/>
          </a:xfrm>
          <a:prstGeom prst="rect">
            <a:avLst/>
          </a:prstGeom>
          <a:noFill/>
        </p:spPr>
        <p:txBody>
          <a:bodyPr wrap="square">
            <a:spAutoFit/>
          </a:bodyPr>
          <a:lstStyle/>
          <a:p>
            <a:pPr>
              <a:spcAft>
                <a:spcPts val="800"/>
              </a:spcAft>
            </a:pPr>
            <a:r>
              <a:rPr sz="1600" b="0" i="0">
                <a:solidFill>
                  <a:srgbClr val="14201B"/>
                </a:solidFill>
                <a:latin typeface="Calibri"/>
                <a:ea typeface="Calibri"/>
                <a:cs typeface="Calibri"/>
              </a:rPr>
              <a:t>•  The salaried class and a thin layer of companies already pay.</a:t>
            </a:r>
          </a:p>
          <a:p>
            <a:pPr>
              <a:spcAft>
                <a:spcPts val="800"/>
              </a:spcAft>
            </a:pPr>
            <a:r>
              <a:rPr sz="1600" b="0" i="0">
                <a:solidFill>
                  <a:srgbClr val="14201B"/>
                </a:solidFill>
                <a:latin typeface="Calibri"/>
                <a:ea typeface="Calibri"/>
                <a:cs typeface="Calibri"/>
              </a:rPr>
              <a:t>•  A large share of retail, real estate, agriculture wealth and cash trade does not.</a:t>
            </a:r>
          </a:p>
          <a:p>
            <a:pPr>
              <a:spcAft>
                <a:spcPts val="800"/>
              </a:spcAft>
            </a:pPr>
            <a:r>
              <a:rPr sz="1600" b="0" i="0">
                <a:solidFill>
                  <a:srgbClr val="14201B"/>
                </a:solidFill>
                <a:latin typeface="Calibri"/>
                <a:ea typeface="Calibri"/>
                <a:cs typeface="Calibri"/>
              </a:rPr>
              <a:t>•  Governments then raise rates on the visible few, which pushes more activity underground.</a:t>
            </a:r>
          </a:p>
        </p:txBody>
      </p:sp>
      <p:sp>
        <p:nvSpPr>
          <p:cNvPr id="10" name="Rounded Rectangle 9"/>
          <p:cNvSpPr/>
          <p:nvPr/>
        </p:nvSpPr>
        <p:spPr>
          <a:xfrm>
            <a:off x="6537960" y="1920240"/>
            <a:ext cx="5074920" cy="416052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084831"/>
            <a:ext cx="4663440" cy="320040"/>
          </a:xfrm>
          <a:prstGeom prst="rect">
            <a:avLst/>
          </a:prstGeom>
          <a:noFill/>
        </p:spPr>
        <p:txBody>
          <a:bodyPr wrap="square">
            <a:spAutoFit/>
          </a:bodyPr>
          <a:lstStyle/>
          <a:p>
            <a:pPr algn="l"/>
            <a:r>
              <a:rPr sz="1100" b="1" i="0">
                <a:solidFill>
                  <a:srgbClr val="C9A227"/>
                </a:solidFill>
                <a:latin typeface="Calibri"/>
                <a:ea typeface="Calibri"/>
                <a:cs typeface="Calibri"/>
              </a:rPr>
              <a:t>THIS BRIEFING ANSWERS FOUR QUESTIONS</a:t>
            </a:r>
          </a:p>
        </p:txBody>
      </p:sp>
      <p:sp>
        <p:nvSpPr>
          <p:cNvPr id="12" name="TextBox 11"/>
          <p:cNvSpPr txBox="1"/>
          <p:nvPr/>
        </p:nvSpPr>
        <p:spPr>
          <a:xfrm>
            <a:off x="6766560" y="2468880"/>
            <a:ext cx="4663440" cy="2743200"/>
          </a:xfrm>
          <a:prstGeom prst="rect">
            <a:avLst/>
          </a:prstGeom>
          <a:noFill/>
        </p:spPr>
        <p:txBody>
          <a:bodyPr wrap="square">
            <a:spAutoFit/>
          </a:bodyPr>
          <a:lstStyle/>
          <a:p>
            <a:pPr>
              <a:spcAft>
                <a:spcPts val="800"/>
              </a:spcAft>
            </a:pPr>
            <a:r>
              <a:rPr sz="1500" b="0" i="0">
                <a:solidFill>
                  <a:srgbClr val="14201B"/>
                </a:solidFill>
                <a:latin typeface="Calibri"/>
                <a:ea typeface="Calibri"/>
                <a:cs typeface="Calibri"/>
              </a:rPr>
              <a:t>•  How can Pakistan actually achieve documentation?</a:t>
            </a:r>
          </a:p>
          <a:p>
            <a:pPr>
              <a:spcAft>
                <a:spcPts val="800"/>
              </a:spcAft>
            </a:pPr>
            <a:r>
              <a:rPr sz="1500" b="0" i="0">
                <a:solidFill>
                  <a:srgbClr val="14201B"/>
                </a:solidFill>
                <a:latin typeface="Calibri"/>
                <a:ea typeface="Calibri"/>
                <a:cs typeface="Calibri"/>
              </a:rPr>
              <a:t>•  What are the benefits if we do?</a:t>
            </a:r>
          </a:p>
          <a:p>
            <a:pPr>
              <a:spcAft>
                <a:spcPts val="800"/>
              </a:spcAft>
            </a:pPr>
            <a:r>
              <a:rPr sz="1500" b="0" i="0">
                <a:solidFill>
                  <a:srgbClr val="14201B"/>
                </a:solidFill>
                <a:latin typeface="Calibri"/>
                <a:ea typeface="Calibri"/>
                <a:cs typeface="Calibri"/>
              </a:rPr>
              <a:t>•  What punishment applies if a person does not comply — and if the law is enforced?</a:t>
            </a:r>
          </a:p>
          <a:p>
            <a:pPr>
              <a:spcAft>
                <a:spcPts val="800"/>
              </a:spcAft>
            </a:pPr>
            <a:r>
              <a:rPr sz="1500" b="0" i="0">
                <a:solidFill>
                  <a:srgbClr val="14201B"/>
                </a:solidFill>
                <a:latin typeface="Calibri"/>
                <a:ea typeface="Calibri"/>
                <a:cs typeface="Calibri"/>
              </a:rPr>
              <a:t>•  What problems are we already facing by not doing this?</a:t>
            </a:r>
          </a:p>
        </p:txBody>
      </p:sp>
      <p:sp>
        <p:nvSpPr>
          <p:cNvPr id="13" name="TextBox 12"/>
          <p:cNvSpPr txBox="1"/>
          <p:nvPr/>
        </p:nvSpPr>
        <p:spPr>
          <a:xfrm>
            <a:off x="6766560" y="5212080"/>
            <a:ext cx="4663440" cy="640080"/>
          </a:xfrm>
          <a:prstGeom prst="rect">
            <a:avLst/>
          </a:prstGeom>
          <a:noFill/>
        </p:spPr>
        <p:txBody>
          <a:bodyPr wrap="square">
            <a:spAutoFit/>
          </a:bodyPr>
          <a:lstStyle/>
          <a:p>
            <a:pPr algn="l"/>
            <a:r>
              <a:rPr sz="1300" b="0" i="1">
                <a:solidFill>
                  <a:srgbClr val="5C6B64"/>
                </a:solidFill>
                <a:latin typeface="Calibri"/>
                <a:ea typeface="Calibri"/>
                <a:cs typeface="Calibri"/>
              </a:rPr>
              <a:t>Slide 07 puts all four answers on one page — the complete Pakistan picture.</a:t>
            </a:r>
          </a:p>
        </p:txBody>
      </p:sp>
      <p:sp>
        <p:nvSpPr>
          <p:cNvPr id="14" name="TextBox 13"/>
          <p:cNvSpPr txBox="1"/>
          <p:nvPr/>
        </p:nvSpPr>
        <p:spPr>
          <a:xfrm>
            <a:off x="502920" y="6510528"/>
            <a:ext cx="7772400" cy="256032"/>
          </a:xfrm>
          <a:prstGeom prst="rect">
            <a:avLst/>
          </a:prstGeom>
          <a:noFill/>
        </p:spPr>
        <p:txBody>
          <a:bodyPr wrap="square">
            <a:spAutoFit/>
          </a:bodyPr>
          <a:lstStyle/>
          <a:p>
            <a:pPr algn="l"/>
            <a:r>
              <a:rPr sz="1000" b="0" i="0">
                <a:solidFill>
                  <a:srgbClr val="5C6B64"/>
                </a:solidFill>
                <a:latin typeface="Calibri"/>
                <a:ea typeface="Calibri"/>
                <a:cs typeface="Calibri"/>
              </a:rPr>
              <a:t>A Documented Pakistan</a:t>
            </a:r>
          </a:p>
        </p:txBody>
      </p:sp>
      <p:sp>
        <p:nvSpPr>
          <p:cNvPr id="15" name="TextBox 14"/>
          <p:cNvSpPr txBox="1"/>
          <p:nvPr/>
        </p:nvSpPr>
        <p:spPr>
          <a:xfrm>
            <a:off x="8412480" y="6510528"/>
            <a:ext cx="3246120" cy="256032"/>
          </a:xfrm>
          <a:prstGeom prst="rect">
            <a:avLst/>
          </a:prstGeom>
          <a:noFill/>
        </p:spPr>
        <p:txBody>
          <a:bodyPr wrap="square">
            <a:spAutoFit/>
          </a:bodyPr>
          <a:lstStyle/>
          <a:p>
            <a:pPr algn="r"/>
            <a:r>
              <a:rPr sz="1000" b="0" i="0">
                <a:solidFill>
                  <a:srgbClr val="5C6B64"/>
                </a:solidFill>
                <a:latin typeface="Calibri"/>
                <a:ea typeface="Calibri"/>
                <a:cs typeface="Calibri"/>
              </a:rPr>
              <a:t>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292608"/>
          </a:xfrm>
          <a:prstGeom prst="rect">
            <a:avLst/>
          </a:prstGeom>
          <a:noFill/>
        </p:spPr>
        <p:txBody>
          <a:bodyPr wrap="square">
            <a:spAutoFit/>
          </a:bodyPr>
          <a:lstStyle/>
          <a:p>
            <a:pPr algn="l"/>
            <a:r>
              <a:rPr sz="1100" b="1" i="0">
                <a:solidFill>
                  <a:srgbClr val="C9A227"/>
                </a:solidFill>
                <a:latin typeface="Calibri"/>
                <a:ea typeface="Calibri"/>
                <a:cs typeface="Calibri"/>
              </a:rPr>
              <a:t>02  —  THE GAP</a:t>
            </a:r>
          </a:p>
        </p:txBody>
      </p:sp>
      <p:sp>
        <p:nvSpPr>
          <p:cNvPr id="6" name="TextBox 5"/>
          <p:cNvSpPr txBox="1"/>
          <p:nvPr/>
        </p:nvSpPr>
        <p:spPr>
          <a:xfrm>
            <a:off x="502920" y="566928"/>
            <a:ext cx="11155680" cy="640080"/>
          </a:xfrm>
          <a:prstGeom prst="rect">
            <a:avLst/>
          </a:prstGeom>
          <a:noFill/>
        </p:spPr>
        <p:txBody>
          <a:bodyPr wrap="square">
            <a:spAutoFit/>
          </a:bodyPr>
          <a:lstStyle/>
          <a:p>
            <a:pPr algn="l"/>
            <a:r>
              <a:rPr sz="3000" b="1" i="0">
                <a:solidFill>
                  <a:srgbClr val="14201B"/>
                </a:solidFill>
                <a:latin typeface="Georgia"/>
                <a:ea typeface="Georgia"/>
                <a:cs typeface="Georgia"/>
              </a:rPr>
              <a:t>The documentation gap, in numbers</a:t>
            </a:r>
          </a:p>
        </p:txBody>
      </p:sp>
      <p:sp>
        <p:nvSpPr>
          <p:cNvPr id="7" name="Rectangle 6"/>
          <p:cNvSpPr/>
          <p:nvPr/>
        </p:nvSpPr>
        <p:spPr>
          <a:xfrm>
            <a:off x="502920" y="128016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54480"/>
            <a:ext cx="2743200" cy="224028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691640"/>
            <a:ext cx="2423160" cy="274320"/>
          </a:xfrm>
          <a:prstGeom prst="rect">
            <a:avLst/>
          </a:prstGeom>
          <a:noFill/>
        </p:spPr>
        <p:txBody>
          <a:bodyPr wrap="square">
            <a:spAutoFit/>
          </a:bodyPr>
          <a:lstStyle/>
          <a:p>
            <a:pPr algn="l"/>
            <a:r>
              <a:rPr sz="1100" b="1" i="0">
                <a:solidFill>
                  <a:srgbClr val="C9A227"/>
                </a:solidFill>
                <a:latin typeface="Calibri"/>
                <a:ea typeface="Calibri"/>
                <a:cs typeface="Calibri"/>
              </a:rPr>
              <a:t>POPULATION</a:t>
            </a:r>
          </a:p>
        </p:txBody>
      </p:sp>
      <p:sp>
        <p:nvSpPr>
          <p:cNvPr id="10" name="TextBox 9"/>
          <p:cNvSpPr txBox="1"/>
          <p:nvPr/>
        </p:nvSpPr>
        <p:spPr>
          <a:xfrm>
            <a:off x="667512" y="1965960"/>
            <a:ext cx="2423160" cy="640080"/>
          </a:xfrm>
          <a:prstGeom prst="rect">
            <a:avLst/>
          </a:prstGeom>
          <a:noFill/>
        </p:spPr>
        <p:txBody>
          <a:bodyPr wrap="square">
            <a:spAutoFit/>
          </a:bodyPr>
          <a:lstStyle/>
          <a:p>
            <a:pPr algn="l"/>
            <a:r>
              <a:rPr sz="3200" b="1" i="0">
                <a:solidFill>
                  <a:srgbClr val="0B3D2E"/>
                </a:solidFill>
                <a:latin typeface="Georgia"/>
                <a:ea typeface="Georgia"/>
                <a:cs typeface="Georgia"/>
              </a:rPr>
              <a:t>~240m</a:t>
            </a:r>
          </a:p>
        </p:txBody>
      </p:sp>
      <p:sp>
        <p:nvSpPr>
          <p:cNvPr id="11" name="TextBox 10"/>
          <p:cNvSpPr txBox="1"/>
          <p:nvPr/>
        </p:nvSpPr>
        <p:spPr>
          <a:xfrm>
            <a:off x="667512" y="2651760"/>
            <a:ext cx="2423160" cy="914400"/>
          </a:xfrm>
          <a:prstGeom prst="rect">
            <a:avLst/>
          </a:prstGeom>
          <a:noFill/>
        </p:spPr>
        <p:txBody>
          <a:bodyPr wrap="square">
            <a:spAutoFit/>
          </a:bodyPr>
          <a:lstStyle/>
          <a:p>
            <a:pPr algn="l"/>
            <a:r>
              <a:rPr sz="1300" b="0" i="0">
                <a:solidFill>
                  <a:srgbClr val="5C6B64"/>
                </a:solidFill>
                <a:latin typeface="Calibri"/>
                <a:ea typeface="Calibri"/>
                <a:cs typeface="Calibri"/>
              </a:rPr>
              <a:t>People living in the economy that must be financed.</a:t>
            </a:r>
          </a:p>
        </p:txBody>
      </p:sp>
      <p:sp>
        <p:nvSpPr>
          <p:cNvPr id="12" name="Rounded Rectangle 11"/>
          <p:cNvSpPr/>
          <p:nvPr/>
        </p:nvSpPr>
        <p:spPr>
          <a:xfrm>
            <a:off x="3383280" y="1554480"/>
            <a:ext cx="2743200" cy="224028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691640"/>
            <a:ext cx="2423160" cy="274320"/>
          </a:xfrm>
          <a:prstGeom prst="rect">
            <a:avLst/>
          </a:prstGeom>
          <a:noFill/>
        </p:spPr>
        <p:txBody>
          <a:bodyPr wrap="square">
            <a:spAutoFit/>
          </a:bodyPr>
          <a:lstStyle/>
          <a:p>
            <a:pPr algn="l"/>
            <a:r>
              <a:rPr sz="1100" b="1" i="0">
                <a:solidFill>
                  <a:srgbClr val="C9A227"/>
                </a:solidFill>
                <a:latin typeface="Calibri"/>
                <a:ea typeface="Calibri"/>
                <a:cs typeface="Calibri"/>
              </a:rPr>
              <a:t>WORKFORCE</a:t>
            </a:r>
          </a:p>
        </p:txBody>
      </p:sp>
      <p:sp>
        <p:nvSpPr>
          <p:cNvPr id="14" name="TextBox 13"/>
          <p:cNvSpPr txBox="1"/>
          <p:nvPr/>
        </p:nvSpPr>
        <p:spPr>
          <a:xfrm>
            <a:off x="3547872" y="1965960"/>
            <a:ext cx="2423160" cy="640080"/>
          </a:xfrm>
          <a:prstGeom prst="rect">
            <a:avLst/>
          </a:prstGeom>
          <a:noFill/>
        </p:spPr>
        <p:txBody>
          <a:bodyPr wrap="square">
            <a:spAutoFit/>
          </a:bodyPr>
          <a:lstStyle/>
          <a:p>
            <a:pPr algn="l"/>
            <a:r>
              <a:rPr sz="3200" b="1" i="0">
                <a:solidFill>
                  <a:srgbClr val="0B3D2E"/>
                </a:solidFill>
                <a:latin typeface="Georgia"/>
                <a:ea typeface="Georgia"/>
                <a:cs typeface="Georgia"/>
              </a:rPr>
              <a:t>~85m</a:t>
            </a:r>
          </a:p>
        </p:txBody>
      </p:sp>
      <p:sp>
        <p:nvSpPr>
          <p:cNvPr id="15" name="TextBox 14"/>
          <p:cNvSpPr txBox="1"/>
          <p:nvPr/>
        </p:nvSpPr>
        <p:spPr>
          <a:xfrm>
            <a:off x="3547872" y="2651760"/>
            <a:ext cx="2423160" cy="914400"/>
          </a:xfrm>
          <a:prstGeom prst="rect">
            <a:avLst/>
          </a:prstGeom>
          <a:noFill/>
        </p:spPr>
        <p:txBody>
          <a:bodyPr wrap="square">
            <a:spAutoFit/>
          </a:bodyPr>
          <a:lstStyle/>
          <a:p>
            <a:pPr algn="l"/>
            <a:r>
              <a:rPr sz="1300" b="0" i="0">
                <a:solidFill>
                  <a:srgbClr val="5C6B64"/>
                </a:solidFill>
                <a:latin typeface="Calibri"/>
                <a:ea typeface="Calibri"/>
                <a:cs typeface="Calibri"/>
              </a:rPr>
              <a:t>People earning. Most are outside the income-tax net.</a:t>
            </a:r>
          </a:p>
        </p:txBody>
      </p:sp>
      <p:sp>
        <p:nvSpPr>
          <p:cNvPr id="16" name="Rounded Rectangle 15"/>
          <p:cNvSpPr/>
          <p:nvPr/>
        </p:nvSpPr>
        <p:spPr>
          <a:xfrm>
            <a:off x="6263640" y="1554480"/>
            <a:ext cx="2743200" cy="224028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1691640"/>
            <a:ext cx="2423160" cy="274320"/>
          </a:xfrm>
          <a:prstGeom prst="rect">
            <a:avLst/>
          </a:prstGeom>
          <a:noFill/>
        </p:spPr>
        <p:txBody>
          <a:bodyPr wrap="square">
            <a:spAutoFit/>
          </a:bodyPr>
          <a:lstStyle/>
          <a:p>
            <a:pPr algn="l"/>
            <a:r>
              <a:rPr sz="1100" b="1" i="0">
                <a:solidFill>
                  <a:srgbClr val="C9A227"/>
                </a:solidFill>
                <a:latin typeface="Calibri"/>
                <a:ea typeface="Calibri"/>
                <a:cs typeface="Calibri"/>
              </a:rPr>
              <a:t>ACTIVE RETURN FILERS</a:t>
            </a:r>
          </a:p>
        </p:txBody>
      </p:sp>
      <p:sp>
        <p:nvSpPr>
          <p:cNvPr id="18" name="TextBox 17"/>
          <p:cNvSpPr txBox="1"/>
          <p:nvPr/>
        </p:nvSpPr>
        <p:spPr>
          <a:xfrm>
            <a:off x="6428232" y="1965960"/>
            <a:ext cx="2423160" cy="640080"/>
          </a:xfrm>
          <a:prstGeom prst="rect">
            <a:avLst/>
          </a:prstGeom>
          <a:noFill/>
        </p:spPr>
        <p:txBody>
          <a:bodyPr wrap="square">
            <a:spAutoFit/>
          </a:bodyPr>
          <a:lstStyle/>
          <a:p>
            <a:pPr algn="l"/>
            <a:r>
              <a:rPr sz="3200" b="1" i="0">
                <a:solidFill>
                  <a:srgbClr val="0B3D2E"/>
                </a:solidFill>
                <a:latin typeface="Georgia"/>
                <a:ea typeface="Georgia"/>
                <a:cs typeface="Georgia"/>
              </a:rPr>
              <a:t>~2.5m</a:t>
            </a:r>
          </a:p>
        </p:txBody>
      </p:sp>
      <p:sp>
        <p:nvSpPr>
          <p:cNvPr id="19" name="TextBox 18"/>
          <p:cNvSpPr txBox="1"/>
          <p:nvPr/>
        </p:nvSpPr>
        <p:spPr>
          <a:xfrm>
            <a:off x="6428232" y="2651760"/>
            <a:ext cx="2423160" cy="914400"/>
          </a:xfrm>
          <a:prstGeom prst="rect">
            <a:avLst/>
          </a:prstGeom>
          <a:noFill/>
        </p:spPr>
        <p:txBody>
          <a:bodyPr wrap="square">
            <a:spAutoFit/>
          </a:bodyPr>
          <a:lstStyle/>
          <a:p>
            <a:pPr algn="l"/>
            <a:r>
              <a:rPr sz="1300" b="0" i="0">
                <a:solidFill>
                  <a:srgbClr val="5C6B64"/>
                </a:solidFill>
                <a:latin typeface="Calibri"/>
                <a:ea typeface="Calibri"/>
                <a:cs typeface="Calibri"/>
              </a:rPr>
              <a:t>Roughly 3 in 100 workers file a meaningful return.</a:t>
            </a:r>
          </a:p>
        </p:txBody>
      </p:sp>
      <p:sp>
        <p:nvSpPr>
          <p:cNvPr id="20" name="Rounded Rectangle 19"/>
          <p:cNvSpPr/>
          <p:nvPr/>
        </p:nvSpPr>
        <p:spPr>
          <a:xfrm>
            <a:off x="9144000" y="1554480"/>
            <a:ext cx="2743200" cy="224028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8592" y="1691640"/>
            <a:ext cx="2423160" cy="274320"/>
          </a:xfrm>
          <a:prstGeom prst="rect">
            <a:avLst/>
          </a:prstGeom>
          <a:noFill/>
        </p:spPr>
        <p:txBody>
          <a:bodyPr wrap="square">
            <a:spAutoFit/>
          </a:bodyPr>
          <a:lstStyle/>
          <a:p>
            <a:pPr algn="l"/>
            <a:r>
              <a:rPr sz="1100" b="1" i="0">
                <a:solidFill>
                  <a:srgbClr val="C9A227"/>
                </a:solidFill>
                <a:latin typeface="Calibri"/>
                <a:ea typeface="Calibri"/>
                <a:cs typeface="Calibri"/>
              </a:rPr>
              <a:t>INFORMAL ECONOMY</a:t>
            </a:r>
          </a:p>
        </p:txBody>
      </p:sp>
      <p:sp>
        <p:nvSpPr>
          <p:cNvPr id="22" name="TextBox 21"/>
          <p:cNvSpPr txBox="1"/>
          <p:nvPr/>
        </p:nvSpPr>
        <p:spPr>
          <a:xfrm>
            <a:off x="9308592" y="1965960"/>
            <a:ext cx="2423160" cy="640080"/>
          </a:xfrm>
          <a:prstGeom prst="rect">
            <a:avLst/>
          </a:prstGeom>
          <a:noFill/>
        </p:spPr>
        <p:txBody>
          <a:bodyPr wrap="square">
            <a:spAutoFit/>
          </a:bodyPr>
          <a:lstStyle/>
          <a:p>
            <a:pPr algn="l"/>
            <a:r>
              <a:rPr sz="3200" b="1" i="0">
                <a:solidFill>
                  <a:srgbClr val="0B3D2E"/>
                </a:solidFill>
                <a:latin typeface="Georgia"/>
                <a:ea typeface="Georgia"/>
                <a:cs typeface="Georgia"/>
              </a:rPr>
              <a:t>35–40%</a:t>
            </a:r>
          </a:p>
        </p:txBody>
      </p:sp>
      <p:sp>
        <p:nvSpPr>
          <p:cNvPr id="23" name="TextBox 22"/>
          <p:cNvSpPr txBox="1"/>
          <p:nvPr/>
        </p:nvSpPr>
        <p:spPr>
          <a:xfrm>
            <a:off x="9308592" y="2651760"/>
            <a:ext cx="2423160" cy="914400"/>
          </a:xfrm>
          <a:prstGeom prst="rect">
            <a:avLst/>
          </a:prstGeom>
          <a:noFill/>
        </p:spPr>
        <p:txBody>
          <a:bodyPr wrap="square">
            <a:spAutoFit/>
          </a:bodyPr>
          <a:lstStyle/>
          <a:p>
            <a:pPr algn="l"/>
            <a:r>
              <a:rPr sz="1300" b="0" i="0">
                <a:solidFill>
                  <a:srgbClr val="5C6B64"/>
                </a:solidFill>
                <a:latin typeface="Calibri"/>
                <a:ea typeface="Calibri"/>
                <a:cs typeface="Calibri"/>
              </a:rPr>
              <a:t>Share of GDP outside proper books, POS and returns.</a:t>
            </a:r>
          </a:p>
        </p:txBody>
      </p:sp>
      <p:sp>
        <p:nvSpPr>
          <p:cNvPr id="24" name="Rounded Rectangle 23"/>
          <p:cNvSpPr/>
          <p:nvPr/>
        </p:nvSpPr>
        <p:spPr>
          <a:xfrm>
            <a:off x="502920" y="3977639"/>
            <a:ext cx="3657600" cy="214884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114800"/>
            <a:ext cx="3291840" cy="256032"/>
          </a:xfrm>
          <a:prstGeom prst="rect">
            <a:avLst/>
          </a:prstGeom>
          <a:noFill/>
        </p:spPr>
        <p:txBody>
          <a:bodyPr wrap="square">
            <a:spAutoFit/>
          </a:bodyPr>
          <a:lstStyle/>
          <a:p>
            <a:pPr algn="l"/>
            <a:r>
              <a:rPr sz="1100" b="1" i="0">
                <a:solidFill>
                  <a:srgbClr val="C9A227"/>
                </a:solidFill>
                <a:latin typeface="Calibri"/>
                <a:ea typeface="Calibri"/>
                <a:cs typeface="Calibri"/>
              </a:rPr>
              <a:t>FBR COLLECTION FY2026</a:t>
            </a:r>
          </a:p>
        </p:txBody>
      </p:sp>
      <p:sp>
        <p:nvSpPr>
          <p:cNvPr id="26" name="TextBox 25"/>
          <p:cNvSpPr txBox="1"/>
          <p:nvPr/>
        </p:nvSpPr>
        <p:spPr>
          <a:xfrm>
            <a:off x="685800" y="4389120"/>
            <a:ext cx="3291840" cy="502920"/>
          </a:xfrm>
          <a:prstGeom prst="rect">
            <a:avLst/>
          </a:prstGeom>
          <a:noFill/>
        </p:spPr>
        <p:txBody>
          <a:bodyPr wrap="square">
            <a:spAutoFit/>
          </a:bodyPr>
          <a:lstStyle/>
          <a:p>
            <a:pPr algn="l"/>
            <a:r>
              <a:rPr sz="2600" b="1" i="0">
                <a:solidFill>
                  <a:srgbClr val="0B3D2E"/>
                </a:solidFill>
                <a:latin typeface="Georgia"/>
                <a:ea typeface="Georgia"/>
                <a:cs typeface="Georgia"/>
              </a:rPr>
              <a:t>Rs 13.01 tr</a:t>
            </a:r>
          </a:p>
        </p:txBody>
      </p:sp>
      <p:sp>
        <p:nvSpPr>
          <p:cNvPr id="27" name="TextBox 26"/>
          <p:cNvSpPr txBox="1"/>
          <p:nvPr/>
        </p:nvSpPr>
        <p:spPr>
          <a:xfrm>
            <a:off x="685800" y="4937760"/>
            <a:ext cx="3291840" cy="960120"/>
          </a:xfrm>
          <a:prstGeom prst="rect">
            <a:avLst/>
          </a:prstGeom>
          <a:noFill/>
        </p:spPr>
        <p:txBody>
          <a:bodyPr wrap="square">
            <a:spAutoFit/>
          </a:bodyPr>
          <a:lstStyle/>
          <a:p>
            <a:pPr algn="l"/>
            <a:r>
              <a:rPr sz="1300" b="0" i="0">
                <a:solidFill>
                  <a:srgbClr val="5C6B64"/>
                </a:solidFill>
                <a:latin typeface="Calibri"/>
                <a:ea typeface="Calibri"/>
                <a:cs typeface="Calibri"/>
              </a:rPr>
              <a:t>Record collection — still a narrow base, not a broad one.</a:t>
            </a:r>
          </a:p>
        </p:txBody>
      </p:sp>
      <p:sp>
        <p:nvSpPr>
          <p:cNvPr id="28" name="Rounded Rectangle 27"/>
          <p:cNvSpPr/>
          <p:nvPr/>
        </p:nvSpPr>
        <p:spPr>
          <a:xfrm>
            <a:off x="4343400" y="3977639"/>
            <a:ext cx="3657600" cy="214884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80" y="4114800"/>
            <a:ext cx="3291840" cy="256032"/>
          </a:xfrm>
          <a:prstGeom prst="rect">
            <a:avLst/>
          </a:prstGeom>
          <a:noFill/>
        </p:spPr>
        <p:txBody>
          <a:bodyPr wrap="square">
            <a:spAutoFit/>
          </a:bodyPr>
          <a:lstStyle/>
          <a:p>
            <a:pPr algn="l"/>
            <a:r>
              <a:rPr sz="1100" b="1" i="0">
                <a:solidFill>
                  <a:srgbClr val="C9A227"/>
                </a:solidFill>
                <a:latin typeface="Calibri"/>
                <a:ea typeface="Calibri"/>
                <a:cs typeface="Calibri"/>
              </a:rPr>
              <a:t>FBR TAX-TO-GDP FY2026</a:t>
            </a:r>
          </a:p>
        </p:txBody>
      </p:sp>
      <p:sp>
        <p:nvSpPr>
          <p:cNvPr id="30" name="TextBox 29"/>
          <p:cNvSpPr txBox="1"/>
          <p:nvPr/>
        </p:nvSpPr>
        <p:spPr>
          <a:xfrm>
            <a:off x="4526280" y="4389120"/>
            <a:ext cx="3291840" cy="502920"/>
          </a:xfrm>
          <a:prstGeom prst="rect">
            <a:avLst/>
          </a:prstGeom>
          <a:noFill/>
        </p:spPr>
        <p:txBody>
          <a:bodyPr wrap="square">
            <a:spAutoFit/>
          </a:bodyPr>
          <a:lstStyle/>
          <a:p>
            <a:pPr algn="l"/>
            <a:r>
              <a:rPr sz="2600" b="1" i="0">
                <a:solidFill>
                  <a:srgbClr val="0B3D2E"/>
                </a:solidFill>
                <a:latin typeface="Georgia"/>
                <a:ea typeface="Georgia"/>
                <a:cs typeface="Georgia"/>
              </a:rPr>
              <a:t>10.3%</a:t>
            </a:r>
          </a:p>
        </p:txBody>
      </p:sp>
      <p:sp>
        <p:nvSpPr>
          <p:cNvPr id="31" name="TextBox 30"/>
          <p:cNvSpPr txBox="1"/>
          <p:nvPr/>
        </p:nvSpPr>
        <p:spPr>
          <a:xfrm>
            <a:off x="4526280" y="4937760"/>
            <a:ext cx="3291840" cy="960120"/>
          </a:xfrm>
          <a:prstGeom prst="rect">
            <a:avLst/>
          </a:prstGeom>
          <a:noFill/>
        </p:spPr>
        <p:txBody>
          <a:bodyPr wrap="square">
            <a:spAutoFit/>
          </a:bodyPr>
          <a:lstStyle/>
          <a:p>
            <a:pPr algn="l"/>
            <a:r>
              <a:rPr sz="1300" b="0" i="0">
                <a:solidFill>
                  <a:srgbClr val="5C6B64"/>
                </a:solidFill>
                <a:latin typeface="Calibri"/>
                <a:ea typeface="Calibri"/>
                <a:cs typeface="Calibri"/>
              </a:rPr>
              <a:t>Developing peers often sit in the mid-teens; OECD around one-third of GDP.</a:t>
            </a:r>
          </a:p>
        </p:txBody>
      </p:sp>
      <p:sp>
        <p:nvSpPr>
          <p:cNvPr id="32" name="Rounded Rectangle 31"/>
          <p:cNvSpPr/>
          <p:nvPr/>
        </p:nvSpPr>
        <p:spPr>
          <a:xfrm>
            <a:off x="8183880" y="3977639"/>
            <a:ext cx="3657600" cy="214884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66760" y="4114800"/>
            <a:ext cx="3291840" cy="256032"/>
          </a:xfrm>
          <a:prstGeom prst="rect">
            <a:avLst/>
          </a:prstGeom>
          <a:noFill/>
        </p:spPr>
        <p:txBody>
          <a:bodyPr wrap="square">
            <a:spAutoFit/>
          </a:bodyPr>
          <a:lstStyle/>
          <a:p>
            <a:pPr algn="l"/>
            <a:r>
              <a:rPr sz="1100" b="1" i="0">
                <a:solidFill>
                  <a:srgbClr val="C9A227"/>
                </a:solidFill>
                <a:latin typeface="Calibri"/>
                <a:ea typeface="Calibri"/>
                <a:cs typeface="Calibri"/>
              </a:rPr>
              <a:t>REGISTERED FILERS (JUN 2025)</a:t>
            </a:r>
          </a:p>
        </p:txBody>
      </p:sp>
      <p:sp>
        <p:nvSpPr>
          <p:cNvPr id="34" name="TextBox 33"/>
          <p:cNvSpPr txBox="1"/>
          <p:nvPr/>
        </p:nvSpPr>
        <p:spPr>
          <a:xfrm>
            <a:off x="8366760" y="4389120"/>
            <a:ext cx="3291840" cy="502920"/>
          </a:xfrm>
          <a:prstGeom prst="rect">
            <a:avLst/>
          </a:prstGeom>
          <a:noFill/>
        </p:spPr>
        <p:txBody>
          <a:bodyPr wrap="square">
            <a:spAutoFit/>
          </a:bodyPr>
          <a:lstStyle/>
          <a:p>
            <a:pPr algn="l"/>
            <a:r>
              <a:rPr sz="2600" b="1" i="0">
                <a:solidFill>
                  <a:srgbClr val="0B3D2E"/>
                </a:solidFill>
                <a:latin typeface="Georgia"/>
                <a:ea typeface="Georgia"/>
                <a:cs typeface="Georgia"/>
              </a:rPr>
              <a:t>7.2m</a:t>
            </a:r>
          </a:p>
        </p:txBody>
      </p:sp>
      <p:sp>
        <p:nvSpPr>
          <p:cNvPr id="35" name="TextBox 34"/>
          <p:cNvSpPr txBox="1"/>
          <p:nvPr/>
        </p:nvSpPr>
        <p:spPr>
          <a:xfrm>
            <a:off x="8366760" y="4937760"/>
            <a:ext cx="3291840" cy="960120"/>
          </a:xfrm>
          <a:prstGeom prst="rect">
            <a:avLst/>
          </a:prstGeom>
          <a:noFill/>
        </p:spPr>
        <p:txBody>
          <a:bodyPr wrap="square">
            <a:spAutoFit/>
          </a:bodyPr>
          <a:lstStyle/>
          <a:p>
            <a:pPr algn="l"/>
            <a:r>
              <a:rPr sz="1300" b="0" i="0">
                <a:solidFill>
                  <a:srgbClr val="5C6B64"/>
                </a:solidFill>
                <a:latin typeface="Calibri"/>
                <a:ea typeface="Calibri"/>
                <a:cs typeface="Calibri"/>
              </a:rPr>
              <a:t>Registration rose. Active, honest filing did not rise at the same pace.</a:t>
            </a:r>
          </a:p>
        </p:txBody>
      </p:sp>
      <p:sp>
        <p:nvSpPr>
          <p:cNvPr id="36" name="TextBox 35"/>
          <p:cNvSpPr txBox="1"/>
          <p:nvPr/>
        </p:nvSpPr>
        <p:spPr>
          <a:xfrm>
            <a:off x="502920" y="6510528"/>
            <a:ext cx="7772400" cy="256032"/>
          </a:xfrm>
          <a:prstGeom prst="rect">
            <a:avLst/>
          </a:prstGeom>
          <a:noFill/>
        </p:spPr>
        <p:txBody>
          <a:bodyPr wrap="square">
            <a:spAutoFit/>
          </a:bodyPr>
          <a:lstStyle/>
          <a:p>
            <a:pPr algn="l"/>
            <a:r>
              <a:rPr sz="1000" b="0" i="0">
                <a:solidFill>
                  <a:srgbClr val="5C6B64"/>
                </a:solidFill>
                <a:latin typeface="Calibri"/>
                <a:ea typeface="Calibri"/>
                <a:cs typeface="Calibri"/>
              </a:rPr>
              <a:t>Sources: Finance Division Jul 2026 · FBR 2025 · The News FY27 analysis</a:t>
            </a:r>
          </a:p>
        </p:txBody>
      </p:sp>
      <p:sp>
        <p:nvSpPr>
          <p:cNvPr id="37" name="TextBox 36"/>
          <p:cNvSpPr txBox="1"/>
          <p:nvPr/>
        </p:nvSpPr>
        <p:spPr>
          <a:xfrm>
            <a:off x="8412480" y="6510528"/>
            <a:ext cx="3246120" cy="256032"/>
          </a:xfrm>
          <a:prstGeom prst="rect">
            <a:avLst/>
          </a:prstGeom>
          <a:noFill/>
        </p:spPr>
        <p:txBody>
          <a:bodyPr wrap="square">
            <a:spAutoFit/>
          </a:bodyPr>
          <a:lstStyle/>
          <a:p>
            <a:pPr algn="r"/>
            <a:r>
              <a:rPr sz="1000" b="0" i="0">
                <a:solidFill>
                  <a:srgbClr val="5C6B64"/>
                </a:solidFill>
                <a:latin typeface="Calibri"/>
                <a:ea typeface="Calibri"/>
                <a:cs typeface="Calibri"/>
              </a:rPr>
              <a:t>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292608"/>
          </a:xfrm>
          <a:prstGeom prst="rect">
            <a:avLst/>
          </a:prstGeom>
          <a:noFill/>
        </p:spPr>
        <p:txBody>
          <a:bodyPr wrap="square">
            <a:spAutoFit/>
          </a:bodyPr>
          <a:lstStyle/>
          <a:p>
            <a:pPr algn="l"/>
            <a:r>
              <a:rPr sz="1100" b="1" i="0">
                <a:solidFill>
                  <a:srgbClr val="C9A227"/>
                </a:solidFill>
                <a:latin typeface="Calibri"/>
                <a:ea typeface="Calibri"/>
                <a:cs typeface="Calibri"/>
              </a:rPr>
              <a:t>03  —  DEFINITION</a:t>
            </a:r>
          </a:p>
        </p:txBody>
      </p:sp>
      <p:sp>
        <p:nvSpPr>
          <p:cNvPr id="6" name="TextBox 5"/>
          <p:cNvSpPr txBox="1"/>
          <p:nvPr/>
        </p:nvSpPr>
        <p:spPr>
          <a:xfrm>
            <a:off x="502920" y="566928"/>
            <a:ext cx="11155680" cy="640080"/>
          </a:xfrm>
          <a:prstGeom prst="rect">
            <a:avLst/>
          </a:prstGeom>
          <a:noFill/>
        </p:spPr>
        <p:txBody>
          <a:bodyPr wrap="square">
            <a:spAutoFit/>
          </a:bodyPr>
          <a:lstStyle/>
          <a:p>
            <a:pPr algn="l"/>
            <a:r>
              <a:rPr sz="3000" b="1" i="0">
                <a:solidFill>
                  <a:srgbClr val="14201B"/>
                </a:solidFill>
                <a:latin typeface="Georgia"/>
                <a:ea typeface="Georgia"/>
                <a:cs typeface="Georgia"/>
              </a:rPr>
              <a:t>What “doing this” actually means</a:t>
            </a:r>
          </a:p>
        </p:txBody>
      </p:sp>
      <p:sp>
        <p:nvSpPr>
          <p:cNvPr id="7" name="Rectangle 6"/>
          <p:cNvSpPr/>
          <p:nvPr/>
        </p:nvSpPr>
        <p:spPr>
          <a:xfrm>
            <a:off x="502920" y="128016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54480"/>
            <a:ext cx="3657600" cy="338328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737360"/>
            <a:ext cx="3246120" cy="274320"/>
          </a:xfrm>
          <a:prstGeom prst="rect">
            <a:avLst/>
          </a:prstGeom>
          <a:noFill/>
        </p:spPr>
        <p:txBody>
          <a:bodyPr wrap="square">
            <a:spAutoFit/>
          </a:bodyPr>
          <a:lstStyle/>
          <a:p>
            <a:pPr algn="l"/>
            <a:r>
              <a:rPr sz="1100" b="1" i="0">
                <a:solidFill>
                  <a:srgbClr val="C9A227"/>
                </a:solidFill>
                <a:latin typeface="Calibri"/>
                <a:ea typeface="Calibri"/>
                <a:cs typeface="Calibri"/>
              </a:rPr>
              <a:t>01  ·  CITIZEN</a:t>
            </a:r>
          </a:p>
        </p:txBody>
      </p:sp>
      <p:sp>
        <p:nvSpPr>
          <p:cNvPr id="10" name="TextBox 9"/>
          <p:cNvSpPr txBox="1"/>
          <p:nvPr/>
        </p:nvSpPr>
        <p:spPr>
          <a:xfrm>
            <a:off x="704088" y="2103120"/>
            <a:ext cx="3246120" cy="822960"/>
          </a:xfrm>
          <a:prstGeom prst="rect">
            <a:avLst/>
          </a:prstGeom>
          <a:noFill/>
        </p:spPr>
        <p:txBody>
          <a:bodyPr wrap="square">
            <a:spAutoFit/>
          </a:bodyPr>
          <a:lstStyle/>
          <a:p>
            <a:pPr algn="l"/>
            <a:r>
              <a:rPr sz="2000" b="1" i="0">
                <a:solidFill>
                  <a:srgbClr val="14201B"/>
                </a:solidFill>
                <a:latin typeface="Georgia"/>
                <a:ea typeface="Georgia"/>
                <a:cs typeface="Georgia"/>
              </a:rPr>
              <a:t>File, declare, stay on the ATL</a:t>
            </a:r>
          </a:p>
        </p:txBody>
      </p:sp>
      <p:sp>
        <p:nvSpPr>
          <p:cNvPr id="11" name="TextBox 10"/>
          <p:cNvSpPr txBox="1"/>
          <p:nvPr/>
        </p:nvSpPr>
        <p:spPr>
          <a:xfrm>
            <a:off x="704088" y="3017520"/>
            <a:ext cx="3246120" cy="1691640"/>
          </a:xfrm>
          <a:prstGeom prst="rect">
            <a:avLst/>
          </a:prstGeom>
          <a:noFill/>
        </p:spPr>
        <p:txBody>
          <a:bodyPr wrap="square">
            <a:spAutoFit/>
          </a:bodyPr>
          <a:lstStyle/>
          <a:p>
            <a:pPr algn="l"/>
            <a:r>
              <a:rPr sz="1500" b="0" i="0">
                <a:solidFill>
                  <a:srgbClr val="5C6B64"/>
                </a:solidFill>
                <a:latin typeface="Calibri"/>
                <a:ea typeface="Calibri"/>
                <a:cs typeface="Calibri"/>
              </a:rPr>
              <a:t>Every person with taxable income files an income-tax return on time, stays on the Active Taxpayer List, and can explain large purchases from declared wealth.</a:t>
            </a:r>
          </a:p>
        </p:txBody>
      </p:sp>
      <p:sp>
        <p:nvSpPr>
          <p:cNvPr id="12" name="Rounded Rectangle 11"/>
          <p:cNvSpPr/>
          <p:nvPr/>
        </p:nvSpPr>
        <p:spPr>
          <a:xfrm>
            <a:off x="4343400" y="1554480"/>
            <a:ext cx="3657600" cy="338328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737360"/>
            <a:ext cx="3246120" cy="274320"/>
          </a:xfrm>
          <a:prstGeom prst="rect">
            <a:avLst/>
          </a:prstGeom>
          <a:noFill/>
        </p:spPr>
        <p:txBody>
          <a:bodyPr wrap="square">
            <a:spAutoFit/>
          </a:bodyPr>
          <a:lstStyle/>
          <a:p>
            <a:pPr algn="l"/>
            <a:r>
              <a:rPr sz="1100" b="1" i="0">
                <a:solidFill>
                  <a:srgbClr val="C9A227"/>
                </a:solidFill>
                <a:latin typeface="Calibri"/>
                <a:ea typeface="Calibri"/>
                <a:cs typeface="Calibri"/>
              </a:rPr>
              <a:t>02  ·  BUSINESS</a:t>
            </a:r>
          </a:p>
        </p:txBody>
      </p:sp>
      <p:sp>
        <p:nvSpPr>
          <p:cNvPr id="14" name="TextBox 13"/>
          <p:cNvSpPr txBox="1"/>
          <p:nvPr/>
        </p:nvSpPr>
        <p:spPr>
          <a:xfrm>
            <a:off x="4544568" y="2103120"/>
            <a:ext cx="3246120" cy="822960"/>
          </a:xfrm>
          <a:prstGeom prst="rect">
            <a:avLst/>
          </a:prstGeom>
          <a:noFill/>
        </p:spPr>
        <p:txBody>
          <a:bodyPr wrap="square">
            <a:spAutoFit/>
          </a:bodyPr>
          <a:lstStyle/>
          <a:p>
            <a:pPr algn="l"/>
            <a:r>
              <a:rPr sz="2000" b="1" i="0">
                <a:solidFill>
                  <a:srgbClr val="14201B"/>
                </a:solidFill>
                <a:latin typeface="Georgia"/>
                <a:ea typeface="Georgia"/>
                <a:cs typeface="Georgia"/>
              </a:rPr>
              <a:t>Books, invoices, banked sales</a:t>
            </a:r>
          </a:p>
        </p:txBody>
      </p:sp>
      <p:sp>
        <p:nvSpPr>
          <p:cNvPr id="15" name="TextBox 14"/>
          <p:cNvSpPr txBox="1"/>
          <p:nvPr/>
        </p:nvSpPr>
        <p:spPr>
          <a:xfrm>
            <a:off x="4544568" y="3017520"/>
            <a:ext cx="3246120" cy="1691640"/>
          </a:xfrm>
          <a:prstGeom prst="rect">
            <a:avLst/>
          </a:prstGeom>
          <a:noFill/>
        </p:spPr>
        <p:txBody>
          <a:bodyPr wrap="square">
            <a:spAutoFit/>
          </a:bodyPr>
          <a:lstStyle/>
          <a:p>
            <a:pPr algn="l"/>
            <a:r>
              <a:rPr sz="1500" b="0" i="0">
                <a:solidFill>
                  <a:srgbClr val="5C6B64"/>
                </a:solidFill>
                <a:latin typeface="Calibri"/>
                <a:ea typeface="Calibri"/>
                <a:cs typeface="Calibri"/>
              </a:rPr>
              <a:t>Shops and firms issue invoices, keep purchase and sales records, use bank or digital payment where required, and — if notified — connect POS / e-invoicing to FBR.</a:t>
            </a:r>
          </a:p>
        </p:txBody>
      </p:sp>
      <p:sp>
        <p:nvSpPr>
          <p:cNvPr id="16" name="Rounded Rectangle 15"/>
          <p:cNvSpPr/>
          <p:nvPr/>
        </p:nvSpPr>
        <p:spPr>
          <a:xfrm>
            <a:off x="8183880" y="1554480"/>
            <a:ext cx="3657600" cy="338328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1737360"/>
            <a:ext cx="3246120" cy="274320"/>
          </a:xfrm>
          <a:prstGeom prst="rect">
            <a:avLst/>
          </a:prstGeom>
          <a:noFill/>
        </p:spPr>
        <p:txBody>
          <a:bodyPr wrap="square">
            <a:spAutoFit/>
          </a:bodyPr>
          <a:lstStyle/>
          <a:p>
            <a:pPr algn="l"/>
            <a:r>
              <a:rPr sz="1100" b="1" i="0">
                <a:solidFill>
                  <a:srgbClr val="C9A227"/>
                </a:solidFill>
                <a:latin typeface="Calibri"/>
                <a:ea typeface="Calibri"/>
                <a:cs typeface="Calibri"/>
              </a:rPr>
              <a:t>03  ·  STATE</a:t>
            </a:r>
          </a:p>
        </p:txBody>
      </p:sp>
      <p:sp>
        <p:nvSpPr>
          <p:cNvPr id="18" name="TextBox 17"/>
          <p:cNvSpPr txBox="1"/>
          <p:nvPr/>
        </p:nvSpPr>
        <p:spPr>
          <a:xfrm>
            <a:off x="8385048" y="2103120"/>
            <a:ext cx="3246120" cy="822960"/>
          </a:xfrm>
          <a:prstGeom prst="rect">
            <a:avLst/>
          </a:prstGeom>
          <a:noFill/>
        </p:spPr>
        <p:txBody>
          <a:bodyPr wrap="square">
            <a:spAutoFit/>
          </a:bodyPr>
          <a:lstStyle/>
          <a:p>
            <a:pPr algn="l"/>
            <a:r>
              <a:rPr sz="2000" b="1" i="0">
                <a:solidFill>
                  <a:srgbClr val="14201B"/>
                </a:solidFill>
                <a:latin typeface="Georgia"/>
                <a:ea typeface="Georgia"/>
                <a:cs typeface="Georgia"/>
              </a:rPr>
              <a:t>Simple rules, equal enforcement</a:t>
            </a:r>
          </a:p>
        </p:txBody>
      </p:sp>
      <p:sp>
        <p:nvSpPr>
          <p:cNvPr id="19" name="TextBox 18"/>
          <p:cNvSpPr txBox="1"/>
          <p:nvPr/>
        </p:nvSpPr>
        <p:spPr>
          <a:xfrm>
            <a:off x="8385048" y="3017520"/>
            <a:ext cx="3246120" cy="1691640"/>
          </a:xfrm>
          <a:prstGeom prst="rect">
            <a:avLst/>
          </a:prstGeom>
          <a:noFill/>
        </p:spPr>
        <p:txBody>
          <a:bodyPr wrap="square">
            <a:spAutoFit/>
          </a:bodyPr>
          <a:lstStyle/>
          <a:p>
            <a:pPr algn="l"/>
            <a:r>
              <a:rPr sz="1500" b="0" i="0">
                <a:solidFill>
                  <a:srgbClr val="5C6B64"/>
                </a:solidFill>
                <a:latin typeface="Calibri"/>
                <a:ea typeface="Calibri"/>
                <a:cs typeface="Calibri"/>
              </a:rPr>
              <a:t>The state makes compliance cheaper than hiding, stops harassing honest filers, and uses data (utilities, property, imports, banking) instead of raids as the default tool.</a:t>
            </a:r>
          </a:p>
        </p:txBody>
      </p:sp>
      <p:sp>
        <p:nvSpPr>
          <p:cNvPr id="20" name="TextBox 19"/>
          <p:cNvSpPr txBox="1"/>
          <p:nvPr/>
        </p:nvSpPr>
        <p:spPr>
          <a:xfrm>
            <a:off x="502920" y="5120640"/>
            <a:ext cx="11155680" cy="1005840"/>
          </a:xfrm>
          <a:prstGeom prst="rect">
            <a:avLst/>
          </a:prstGeom>
          <a:noFill/>
        </p:spPr>
        <p:txBody>
          <a:bodyPr wrap="square">
            <a:spAutoFit/>
          </a:bodyPr>
          <a:lstStyle/>
          <a:p>
            <a:pPr algn="l"/>
            <a:r>
              <a:rPr sz="1800" b="0" i="0">
                <a:solidFill>
                  <a:srgbClr val="14201B"/>
                </a:solidFill>
                <a:latin typeface="Georgia"/>
                <a:ea typeface="Georgia"/>
                <a:cs typeface="Georgia"/>
              </a:rPr>
              <a:t>Documentation is not “more tax on the same people.” It is bringing hidden turnover into the light so rates on the documented minority can eventually come down.</a:t>
            </a:r>
          </a:p>
        </p:txBody>
      </p:sp>
      <p:sp>
        <p:nvSpPr>
          <p:cNvPr id="21" name="TextBox 20"/>
          <p:cNvSpPr txBox="1"/>
          <p:nvPr/>
        </p:nvSpPr>
        <p:spPr>
          <a:xfrm>
            <a:off x="502920" y="6510528"/>
            <a:ext cx="7772400" cy="256032"/>
          </a:xfrm>
          <a:prstGeom prst="rect">
            <a:avLst/>
          </a:prstGeom>
          <a:noFill/>
        </p:spPr>
        <p:txBody>
          <a:bodyPr wrap="square">
            <a:spAutoFit/>
          </a:bodyPr>
          <a:lstStyle/>
          <a:p>
            <a:pPr algn="l"/>
            <a:r>
              <a:rPr sz="1000" b="0" i="0">
                <a:solidFill>
                  <a:srgbClr val="5C6B64"/>
                </a:solidFill>
                <a:latin typeface="Calibri"/>
                <a:ea typeface="Calibri"/>
                <a:cs typeface="Calibri"/>
              </a:rPr>
              <a:t>A Documented Pakistan</a:t>
            </a:r>
          </a:p>
        </p:txBody>
      </p:sp>
      <p:sp>
        <p:nvSpPr>
          <p:cNvPr id="22" name="TextBox 21"/>
          <p:cNvSpPr txBox="1"/>
          <p:nvPr/>
        </p:nvSpPr>
        <p:spPr>
          <a:xfrm>
            <a:off x="8412480" y="6510528"/>
            <a:ext cx="3246120" cy="256032"/>
          </a:xfrm>
          <a:prstGeom prst="rect">
            <a:avLst/>
          </a:prstGeom>
          <a:noFill/>
        </p:spPr>
        <p:txBody>
          <a:bodyPr wrap="square">
            <a:spAutoFit/>
          </a:bodyPr>
          <a:lstStyle/>
          <a:p>
            <a:pPr algn="r"/>
            <a:r>
              <a:rPr sz="1000" b="0" i="0">
                <a:solidFill>
                  <a:srgbClr val="5C6B64"/>
                </a:solidFill>
                <a:latin typeface="Calibri"/>
                <a:ea typeface="Calibri"/>
                <a:cs typeface="Calibri"/>
              </a:rPr>
              <a:t>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292608"/>
          </a:xfrm>
          <a:prstGeom prst="rect">
            <a:avLst/>
          </a:prstGeom>
          <a:noFill/>
        </p:spPr>
        <p:txBody>
          <a:bodyPr wrap="square">
            <a:spAutoFit/>
          </a:bodyPr>
          <a:lstStyle/>
          <a:p>
            <a:pPr algn="l"/>
            <a:r>
              <a:rPr sz="1100" b="1" i="0">
                <a:solidFill>
                  <a:srgbClr val="C9A227"/>
                </a:solidFill>
                <a:latin typeface="Calibri"/>
                <a:ea typeface="Calibri"/>
                <a:cs typeface="Calibri"/>
              </a:rPr>
              <a:t>04  —  HOW WE ACHIEVE THIS</a:t>
            </a:r>
          </a:p>
        </p:txBody>
      </p:sp>
      <p:sp>
        <p:nvSpPr>
          <p:cNvPr id="6" name="TextBox 5"/>
          <p:cNvSpPr txBox="1"/>
          <p:nvPr/>
        </p:nvSpPr>
        <p:spPr>
          <a:xfrm>
            <a:off x="502920" y="566928"/>
            <a:ext cx="11155680" cy="640080"/>
          </a:xfrm>
          <a:prstGeom prst="rect">
            <a:avLst/>
          </a:prstGeom>
          <a:noFill/>
        </p:spPr>
        <p:txBody>
          <a:bodyPr wrap="square">
            <a:spAutoFit/>
          </a:bodyPr>
          <a:lstStyle/>
          <a:p>
            <a:pPr algn="l"/>
            <a:r>
              <a:rPr sz="2800" b="1" i="0">
                <a:solidFill>
                  <a:srgbClr val="14201B"/>
                </a:solidFill>
                <a:latin typeface="Georgia"/>
                <a:ea typeface="Georgia"/>
                <a:cs typeface="Georgia"/>
              </a:rPr>
              <a:t>How Pakistan can achieve a documented economy</a:t>
            </a:r>
          </a:p>
        </p:txBody>
      </p:sp>
      <p:sp>
        <p:nvSpPr>
          <p:cNvPr id="7" name="Rectangle 6"/>
          <p:cNvSpPr/>
          <p:nvPr/>
        </p:nvSpPr>
        <p:spPr>
          <a:xfrm>
            <a:off x="502920" y="128016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65760" y="1554480"/>
            <a:ext cx="2231136" cy="443484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54480"/>
            <a:ext cx="2231136"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1783080"/>
            <a:ext cx="2011680" cy="411480"/>
          </a:xfrm>
          <a:prstGeom prst="rect">
            <a:avLst/>
          </a:prstGeom>
          <a:noFill/>
        </p:spPr>
        <p:txBody>
          <a:bodyPr wrap="square">
            <a:spAutoFit/>
          </a:bodyPr>
          <a:lstStyle/>
          <a:p>
            <a:pPr algn="l"/>
            <a:r>
              <a:rPr sz="2600" b="1" i="0">
                <a:solidFill>
                  <a:srgbClr val="C9A227"/>
                </a:solidFill>
                <a:latin typeface="Georgia"/>
                <a:ea typeface="Georgia"/>
                <a:cs typeface="Georgia"/>
              </a:rPr>
              <a:t>01</a:t>
            </a:r>
          </a:p>
        </p:txBody>
      </p:sp>
      <p:sp>
        <p:nvSpPr>
          <p:cNvPr id="11" name="TextBox 10"/>
          <p:cNvSpPr txBox="1"/>
          <p:nvPr/>
        </p:nvSpPr>
        <p:spPr>
          <a:xfrm>
            <a:off x="475488" y="2240280"/>
            <a:ext cx="2011680" cy="777240"/>
          </a:xfrm>
          <a:prstGeom prst="rect">
            <a:avLst/>
          </a:prstGeom>
          <a:noFill/>
        </p:spPr>
        <p:txBody>
          <a:bodyPr wrap="square">
            <a:spAutoFit/>
          </a:bodyPr>
          <a:lstStyle/>
          <a:p>
            <a:pPr algn="l"/>
            <a:r>
              <a:rPr sz="1600" b="1" i="0">
                <a:solidFill>
                  <a:srgbClr val="14201B"/>
                </a:solidFill>
                <a:latin typeface="Georgia"/>
                <a:ea typeface="Georgia"/>
                <a:cs typeface="Georgia"/>
              </a:rPr>
              <a:t>Make filing easy</a:t>
            </a:r>
          </a:p>
        </p:txBody>
      </p:sp>
      <p:sp>
        <p:nvSpPr>
          <p:cNvPr id="12" name="TextBox 11"/>
          <p:cNvSpPr txBox="1"/>
          <p:nvPr/>
        </p:nvSpPr>
        <p:spPr>
          <a:xfrm>
            <a:off x="475488" y="3063240"/>
            <a:ext cx="2011680" cy="2697480"/>
          </a:xfrm>
          <a:prstGeom prst="rect">
            <a:avLst/>
          </a:prstGeom>
          <a:noFill/>
        </p:spPr>
        <p:txBody>
          <a:bodyPr wrap="square">
            <a:spAutoFit/>
          </a:bodyPr>
          <a:lstStyle/>
          <a:p>
            <a:pPr algn="l"/>
            <a:r>
              <a:rPr sz="1200" b="0" i="0">
                <a:solidFill>
                  <a:srgbClr val="5C6B64"/>
                </a:solidFill>
                <a:latin typeface="Calibri"/>
                <a:ea typeface="Calibri"/>
                <a:cs typeface="Calibri"/>
              </a:rPr>
              <a:t>IRIS, mobile apps, Urdu/regional forms, facilitation centres. Fixed Tax Asaan Scheme (1% of turnover, min Rs 25,000, sales up to Rs 200m) is built for this.</a:t>
            </a:r>
          </a:p>
        </p:txBody>
      </p:sp>
      <p:sp>
        <p:nvSpPr>
          <p:cNvPr id="13" name="Rounded Rectangle 12"/>
          <p:cNvSpPr/>
          <p:nvPr/>
        </p:nvSpPr>
        <p:spPr>
          <a:xfrm>
            <a:off x="2706624" y="1554480"/>
            <a:ext cx="2231136" cy="443484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6624" y="1554480"/>
            <a:ext cx="2231136"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16352" y="1783080"/>
            <a:ext cx="2011680" cy="411480"/>
          </a:xfrm>
          <a:prstGeom prst="rect">
            <a:avLst/>
          </a:prstGeom>
          <a:noFill/>
        </p:spPr>
        <p:txBody>
          <a:bodyPr wrap="square">
            <a:spAutoFit/>
          </a:bodyPr>
          <a:lstStyle/>
          <a:p>
            <a:pPr algn="l"/>
            <a:r>
              <a:rPr sz="2600" b="1" i="0">
                <a:solidFill>
                  <a:srgbClr val="C9A227"/>
                </a:solidFill>
                <a:latin typeface="Georgia"/>
                <a:ea typeface="Georgia"/>
                <a:cs typeface="Georgia"/>
              </a:rPr>
              <a:t>02</a:t>
            </a:r>
          </a:p>
        </p:txBody>
      </p:sp>
      <p:sp>
        <p:nvSpPr>
          <p:cNvPr id="16" name="TextBox 15"/>
          <p:cNvSpPr txBox="1"/>
          <p:nvPr/>
        </p:nvSpPr>
        <p:spPr>
          <a:xfrm>
            <a:off x="2816352" y="2240280"/>
            <a:ext cx="2011680" cy="777240"/>
          </a:xfrm>
          <a:prstGeom prst="rect">
            <a:avLst/>
          </a:prstGeom>
          <a:noFill/>
        </p:spPr>
        <p:txBody>
          <a:bodyPr wrap="square">
            <a:spAutoFit/>
          </a:bodyPr>
          <a:lstStyle/>
          <a:p>
            <a:pPr algn="l"/>
            <a:r>
              <a:rPr sz="1600" b="1" i="0">
                <a:solidFill>
                  <a:srgbClr val="14201B"/>
                </a:solidFill>
                <a:latin typeface="Georgia"/>
                <a:ea typeface="Georgia"/>
                <a:cs typeface="Georgia"/>
              </a:rPr>
              <a:t>Reward the filer</a:t>
            </a:r>
          </a:p>
        </p:txBody>
      </p:sp>
      <p:sp>
        <p:nvSpPr>
          <p:cNvPr id="17" name="TextBox 16"/>
          <p:cNvSpPr txBox="1"/>
          <p:nvPr/>
        </p:nvSpPr>
        <p:spPr>
          <a:xfrm>
            <a:off x="2816352" y="3063240"/>
            <a:ext cx="2011680" cy="2697480"/>
          </a:xfrm>
          <a:prstGeom prst="rect">
            <a:avLst/>
          </a:prstGeom>
          <a:noFill/>
        </p:spPr>
        <p:txBody>
          <a:bodyPr wrap="square">
            <a:spAutoFit/>
          </a:bodyPr>
          <a:lstStyle/>
          <a:p>
            <a:pPr algn="l"/>
            <a:r>
              <a:rPr sz="1200" b="0" i="0">
                <a:solidFill>
                  <a:srgbClr val="5C6B64"/>
                </a:solidFill>
                <a:latin typeface="Calibri"/>
                <a:ea typeface="Calibri"/>
                <a:cs typeface="Calibri"/>
              </a:rPr>
              <a:t>Lowest withholding, refunds, bank accounts, property and vehicle access, government contracts and cheaper credit must belong to people on the ATL.</a:t>
            </a:r>
          </a:p>
        </p:txBody>
      </p:sp>
      <p:sp>
        <p:nvSpPr>
          <p:cNvPr id="18" name="Rounded Rectangle 17"/>
          <p:cNvSpPr/>
          <p:nvPr/>
        </p:nvSpPr>
        <p:spPr>
          <a:xfrm>
            <a:off x="5047488" y="1554480"/>
            <a:ext cx="2231136" cy="443484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7488" y="1554480"/>
            <a:ext cx="2231136"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57216" y="1783080"/>
            <a:ext cx="2011680" cy="411480"/>
          </a:xfrm>
          <a:prstGeom prst="rect">
            <a:avLst/>
          </a:prstGeom>
          <a:noFill/>
        </p:spPr>
        <p:txBody>
          <a:bodyPr wrap="square">
            <a:spAutoFit/>
          </a:bodyPr>
          <a:lstStyle/>
          <a:p>
            <a:pPr algn="l"/>
            <a:r>
              <a:rPr sz="2600" b="1" i="0">
                <a:solidFill>
                  <a:srgbClr val="C9A227"/>
                </a:solidFill>
                <a:latin typeface="Georgia"/>
                <a:ea typeface="Georgia"/>
                <a:cs typeface="Georgia"/>
              </a:rPr>
              <a:t>03</a:t>
            </a:r>
          </a:p>
        </p:txBody>
      </p:sp>
      <p:sp>
        <p:nvSpPr>
          <p:cNvPr id="21" name="TextBox 20"/>
          <p:cNvSpPr txBox="1"/>
          <p:nvPr/>
        </p:nvSpPr>
        <p:spPr>
          <a:xfrm>
            <a:off x="5157216" y="2240280"/>
            <a:ext cx="2011680" cy="777240"/>
          </a:xfrm>
          <a:prstGeom prst="rect">
            <a:avLst/>
          </a:prstGeom>
          <a:noFill/>
        </p:spPr>
        <p:txBody>
          <a:bodyPr wrap="square">
            <a:spAutoFit/>
          </a:bodyPr>
          <a:lstStyle/>
          <a:p>
            <a:pPr algn="l"/>
            <a:r>
              <a:rPr sz="1600" b="1" i="0">
                <a:solidFill>
                  <a:srgbClr val="14201B"/>
                </a:solidFill>
                <a:latin typeface="Georgia"/>
                <a:ea typeface="Georgia"/>
                <a:cs typeface="Georgia"/>
              </a:rPr>
              <a:t>See the transaction</a:t>
            </a:r>
          </a:p>
        </p:txBody>
      </p:sp>
      <p:sp>
        <p:nvSpPr>
          <p:cNvPr id="22" name="TextBox 21"/>
          <p:cNvSpPr txBox="1"/>
          <p:nvPr/>
        </p:nvSpPr>
        <p:spPr>
          <a:xfrm>
            <a:off x="5157216" y="3063240"/>
            <a:ext cx="2011680" cy="2697480"/>
          </a:xfrm>
          <a:prstGeom prst="rect">
            <a:avLst/>
          </a:prstGeom>
          <a:noFill/>
        </p:spPr>
        <p:txBody>
          <a:bodyPr wrap="square">
            <a:spAutoFit/>
          </a:bodyPr>
          <a:lstStyle/>
          <a:p>
            <a:pPr algn="l"/>
            <a:r>
              <a:rPr sz="1200" b="0" i="0">
                <a:solidFill>
                  <a:srgbClr val="5C6B64"/>
                </a:solidFill>
                <a:latin typeface="Calibri"/>
                <a:ea typeface="Calibri"/>
                <a:cs typeface="Calibri"/>
              </a:rPr>
              <a:t>POS and e-invoicing for large retail and notified sectors; NADRA / land / customs / bank data matched to returns so lifestyle and income cannot stay strangers.</a:t>
            </a:r>
          </a:p>
        </p:txBody>
      </p:sp>
      <p:sp>
        <p:nvSpPr>
          <p:cNvPr id="23" name="Rounded Rectangle 22"/>
          <p:cNvSpPr/>
          <p:nvPr/>
        </p:nvSpPr>
        <p:spPr>
          <a:xfrm>
            <a:off x="7388352" y="1554480"/>
            <a:ext cx="2231136" cy="443484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88352" y="1554480"/>
            <a:ext cx="2231136"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0" y="1783080"/>
            <a:ext cx="2011680" cy="411480"/>
          </a:xfrm>
          <a:prstGeom prst="rect">
            <a:avLst/>
          </a:prstGeom>
          <a:noFill/>
        </p:spPr>
        <p:txBody>
          <a:bodyPr wrap="square">
            <a:spAutoFit/>
          </a:bodyPr>
          <a:lstStyle/>
          <a:p>
            <a:pPr algn="l"/>
            <a:r>
              <a:rPr sz="2600" b="1" i="0">
                <a:solidFill>
                  <a:srgbClr val="C9A227"/>
                </a:solidFill>
                <a:latin typeface="Georgia"/>
                <a:ea typeface="Georgia"/>
                <a:cs typeface="Georgia"/>
              </a:rPr>
              <a:t>04</a:t>
            </a:r>
          </a:p>
        </p:txBody>
      </p:sp>
      <p:sp>
        <p:nvSpPr>
          <p:cNvPr id="26" name="TextBox 25"/>
          <p:cNvSpPr txBox="1"/>
          <p:nvPr/>
        </p:nvSpPr>
        <p:spPr>
          <a:xfrm>
            <a:off x="7498080" y="2240280"/>
            <a:ext cx="2011680" cy="777240"/>
          </a:xfrm>
          <a:prstGeom prst="rect">
            <a:avLst/>
          </a:prstGeom>
          <a:noFill/>
        </p:spPr>
        <p:txBody>
          <a:bodyPr wrap="square">
            <a:spAutoFit/>
          </a:bodyPr>
          <a:lstStyle/>
          <a:p>
            <a:pPr algn="l"/>
            <a:r>
              <a:rPr sz="1600" b="1" i="0">
                <a:solidFill>
                  <a:srgbClr val="14201B"/>
                </a:solidFill>
                <a:latin typeface="Georgia"/>
                <a:ea typeface="Georgia"/>
                <a:cs typeface="Georgia"/>
              </a:rPr>
              <a:t>Protect the honest</a:t>
            </a:r>
          </a:p>
        </p:txBody>
      </p:sp>
      <p:sp>
        <p:nvSpPr>
          <p:cNvPr id="27" name="TextBox 26"/>
          <p:cNvSpPr txBox="1"/>
          <p:nvPr/>
        </p:nvSpPr>
        <p:spPr>
          <a:xfrm>
            <a:off x="7498080" y="3063240"/>
            <a:ext cx="2011680" cy="2697480"/>
          </a:xfrm>
          <a:prstGeom prst="rect">
            <a:avLst/>
          </a:prstGeom>
          <a:noFill/>
        </p:spPr>
        <p:txBody>
          <a:bodyPr wrap="square">
            <a:spAutoFit/>
          </a:bodyPr>
          <a:lstStyle/>
          <a:p>
            <a:pPr algn="l"/>
            <a:r>
              <a:rPr sz="1200" b="0" i="0">
                <a:solidFill>
                  <a:srgbClr val="5C6B64"/>
                </a:solidFill>
                <a:latin typeface="Calibri"/>
                <a:ea typeface="Calibri"/>
                <a:cs typeface="Calibri"/>
              </a:rPr>
              <a:t>No random shop raids on scheme participants, association-based disputes, and a real end to “audit as harassment.” Fear is why Tajir Dost failed.</a:t>
            </a:r>
          </a:p>
        </p:txBody>
      </p:sp>
      <p:sp>
        <p:nvSpPr>
          <p:cNvPr id="28" name="Rounded Rectangle 27"/>
          <p:cNvSpPr/>
          <p:nvPr/>
        </p:nvSpPr>
        <p:spPr>
          <a:xfrm>
            <a:off x="9729216" y="1554480"/>
            <a:ext cx="2231136" cy="443484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29216" y="1554480"/>
            <a:ext cx="2231136"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38944" y="1783080"/>
            <a:ext cx="2011680" cy="411480"/>
          </a:xfrm>
          <a:prstGeom prst="rect">
            <a:avLst/>
          </a:prstGeom>
          <a:noFill/>
        </p:spPr>
        <p:txBody>
          <a:bodyPr wrap="square">
            <a:spAutoFit/>
          </a:bodyPr>
          <a:lstStyle/>
          <a:p>
            <a:pPr algn="l"/>
            <a:r>
              <a:rPr sz="2600" b="1" i="0">
                <a:solidFill>
                  <a:srgbClr val="C9A227"/>
                </a:solidFill>
                <a:latin typeface="Georgia"/>
                <a:ea typeface="Georgia"/>
                <a:cs typeface="Georgia"/>
              </a:rPr>
              <a:t>05</a:t>
            </a:r>
          </a:p>
        </p:txBody>
      </p:sp>
      <p:sp>
        <p:nvSpPr>
          <p:cNvPr id="31" name="TextBox 30"/>
          <p:cNvSpPr txBox="1"/>
          <p:nvPr/>
        </p:nvSpPr>
        <p:spPr>
          <a:xfrm>
            <a:off x="9838944" y="2240280"/>
            <a:ext cx="2011680" cy="777240"/>
          </a:xfrm>
          <a:prstGeom prst="rect">
            <a:avLst/>
          </a:prstGeom>
          <a:noFill/>
        </p:spPr>
        <p:txBody>
          <a:bodyPr wrap="square">
            <a:spAutoFit/>
          </a:bodyPr>
          <a:lstStyle/>
          <a:p>
            <a:pPr algn="l"/>
            <a:r>
              <a:rPr sz="1600" b="1" i="0">
                <a:solidFill>
                  <a:srgbClr val="14201B"/>
                </a:solidFill>
                <a:latin typeface="Georgia"/>
                <a:ea typeface="Georgia"/>
                <a:cs typeface="Georgia"/>
              </a:rPr>
              <a:t>Enforce the big leaks</a:t>
            </a:r>
          </a:p>
        </p:txBody>
      </p:sp>
      <p:sp>
        <p:nvSpPr>
          <p:cNvPr id="32" name="TextBox 31"/>
          <p:cNvSpPr txBox="1"/>
          <p:nvPr/>
        </p:nvSpPr>
        <p:spPr>
          <a:xfrm>
            <a:off x="9838944" y="3063240"/>
            <a:ext cx="2011680" cy="2697480"/>
          </a:xfrm>
          <a:prstGeom prst="rect">
            <a:avLst/>
          </a:prstGeom>
          <a:noFill/>
        </p:spPr>
        <p:txBody>
          <a:bodyPr wrap="square">
            <a:spAutoFit/>
          </a:bodyPr>
          <a:lstStyle/>
          <a:p>
            <a:pPr algn="l"/>
            <a:r>
              <a:rPr sz="1200" b="0" i="0">
                <a:solidFill>
                  <a:srgbClr val="5C6B64"/>
                </a:solidFill>
                <a:latin typeface="Calibri"/>
                <a:ea typeface="Calibri"/>
                <a:cs typeface="Calibri"/>
              </a:rPr>
              <a:t>Apply penalties, Section 114C high-value blocks, and sealing powers on persistent non-filers and fake invoicing — not on the smallest compliant trader.</a:t>
            </a:r>
          </a:p>
        </p:txBody>
      </p:sp>
      <p:sp>
        <p:nvSpPr>
          <p:cNvPr id="33" name="TextBox 32"/>
          <p:cNvSpPr txBox="1"/>
          <p:nvPr/>
        </p:nvSpPr>
        <p:spPr>
          <a:xfrm>
            <a:off x="502920" y="6510528"/>
            <a:ext cx="7772400" cy="256032"/>
          </a:xfrm>
          <a:prstGeom prst="rect">
            <a:avLst/>
          </a:prstGeom>
          <a:noFill/>
        </p:spPr>
        <p:txBody>
          <a:bodyPr wrap="square">
            <a:spAutoFit/>
          </a:bodyPr>
          <a:lstStyle/>
          <a:p>
            <a:pPr algn="l"/>
            <a:r>
              <a:rPr sz="1000" b="0" i="0">
                <a:solidFill>
                  <a:srgbClr val="5C6B64"/>
                </a:solidFill>
                <a:latin typeface="Calibri"/>
                <a:ea typeface="Calibri"/>
                <a:cs typeface="Calibri"/>
              </a:rPr>
              <a:t>Path: simplify → reward → digitise → protect → punish the leak, not the compliant</a:t>
            </a:r>
          </a:p>
        </p:txBody>
      </p:sp>
      <p:sp>
        <p:nvSpPr>
          <p:cNvPr id="34" name="TextBox 33"/>
          <p:cNvSpPr txBox="1"/>
          <p:nvPr/>
        </p:nvSpPr>
        <p:spPr>
          <a:xfrm>
            <a:off x="8412480" y="6510528"/>
            <a:ext cx="3246120" cy="256032"/>
          </a:xfrm>
          <a:prstGeom prst="rect">
            <a:avLst/>
          </a:prstGeom>
          <a:noFill/>
        </p:spPr>
        <p:txBody>
          <a:bodyPr wrap="square">
            <a:spAutoFit/>
          </a:bodyPr>
          <a:lstStyle/>
          <a:p>
            <a:pPr algn="r"/>
            <a:r>
              <a:rPr sz="1000" b="0" i="0">
                <a:solidFill>
                  <a:srgbClr val="5C6B64"/>
                </a:solidFill>
                <a:latin typeface="Calibri"/>
                <a:ea typeface="Calibri"/>
                <a:cs typeface="Calibri"/>
              </a:rPr>
              <a:t>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292608"/>
          </a:xfrm>
          <a:prstGeom prst="rect">
            <a:avLst/>
          </a:prstGeom>
          <a:noFill/>
        </p:spPr>
        <p:txBody>
          <a:bodyPr wrap="square">
            <a:spAutoFit/>
          </a:bodyPr>
          <a:lstStyle/>
          <a:p>
            <a:pPr algn="l"/>
            <a:r>
              <a:rPr sz="1100" b="1" i="0">
                <a:solidFill>
                  <a:srgbClr val="C9A227"/>
                </a:solidFill>
                <a:latin typeface="Calibri"/>
                <a:ea typeface="Calibri"/>
                <a:cs typeface="Calibri"/>
              </a:rPr>
              <a:t>05  —  BENEFITS</a:t>
            </a:r>
          </a:p>
        </p:txBody>
      </p:sp>
      <p:sp>
        <p:nvSpPr>
          <p:cNvPr id="6" name="TextBox 5"/>
          <p:cNvSpPr txBox="1"/>
          <p:nvPr/>
        </p:nvSpPr>
        <p:spPr>
          <a:xfrm>
            <a:off x="502920" y="566928"/>
            <a:ext cx="11155680" cy="640080"/>
          </a:xfrm>
          <a:prstGeom prst="rect">
            <a:avLst/>
          </a:prstGeom>
          <a:noFill/>
        </p:spPr>
        <p:txBody>
          <a:bodyPr wrap="square">
            <a:spAutoFit/>
          </a:bodyPr>
          <a:lstStyle/>
          <a:p>
            <a:pPr algn="l"/>
            <a:r>
              <a:rPr sz="3000" b="1" i="0">
                <a:solidFill>
                  <a:srgbClr val="14201B"/>
                </a:solidFill>
                <a:latin typeface="Georgia"/>
                <a:ea typeface="Georgia"/>
                <a:cs typeface="Georgia"/>
              </a:rPr>
              <a:t>Benefits if Pakistan actually does this</a:t>
            </a:r>
          </a:p>
        </p:txBody>
      </p:sp>
      <p:sp>
        <p:nvSpPr>
          <p:cNvPr id="7" name="Rectangle 6"/>
          <p:cNvSpPr/>
          <p:nvPr/>
        </p:nvSpPr>
        <p:spPr>
          <a:xfrm>
            <a:off x="502920" y="128016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54480"/>
            <a:ext cx="5486400" cy="448056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37360"/>
            <a:ext cx="5029200" cy="274320"/>
          </a:xfrm>
          <a:prstGeom prst="rect">
            <a:avLst/>
          </a:prstGeom>
          <a:noFill/>
        </p:spPr>
        <p:txBody>
          <a:bodyPr wrap="square">
            <a:spAutoFit/>
          </a:bodyPr>
          <a:lstStyle/>
          <a:p>
            <a:pPr algn="l"/>
            <a:r>
              <a:rPr sz="1200" b="1" i="0">
                <a:solidFill>
                  <a:srgbClr val="C9A227"/>
                </a:solidFill>
                <a:latin typeface="Calibri"/>
                <a:ea typeface="Calibri"/>
                <a:cs typeface="Calibri"/>
              </a:rPr>
              <a:t>FOR THE COUNTRY</a:t>
            </a:r>
          </a:p>
        </p:txBody>
      </p:sp>
      <p:sp>
        <p:nvSpPr>
          <p:cNvPr id="10" name="TextBox 9"/>
          <p:cNvSpPr txBox="1"/>
          <p:nvPr/>
        </p:nvSpPr>
        <p:spPr>
          <a:xfrm>
            <a:off x="731520" y="2148840"/>
            <a:ext cx="5029200" cy="3657600"/>
          </a:xfrm>
          <a:prstGeom prst="rect">
            <a:avLst/>
          </a:prstGeom>
          <a:noFill/>
        </p:spPr>
        <p:txBody>
          <a:bodyPr wrap="square">
            <a:spAutoFit/>
          </a:bodyPr>
          <a:lstStyle/>
          <a:p>
            <a:pPr>
              <a:spcAft>
                <a:spcPts val="800"/>
              </a:spcAft>
            </a:pPr>
            <a:r>
              <a:rPr sz="1500" b="0" i="0">
                <a:solidFill>
                  <a:srgbClr val="14201B"/>
                </a:solidFill>
                <a:latin typeface="Calibri"/>
                <a:ea typeface="Calibri"/>
                <a:cs typeface="Calibri"/>
              </a:rPr>
              <a:t>•  More revenue without crushing the same 2.5 million people — a wider base funds schools, hospitals, water and defence.</a:t>
            </a:r>
          </a:p>
          <a:p>
            <a:pPr>
              <a:spcAft>
                <a:spcPts val="800"/>
              </a:spcAft>
            </a:pPr>
            <a:r>
              <a:rPr sz="1500" b="0" i="0">
                <a:solidFill>
                  <a:srgbClr val="14201B"/>
                </a:solidFill>
                <a:latin typeface="Calibri"/>
                <a:ea typeface="Calibri"/>
                <a:cs typeface="Calibri"/>
              </a:rPr>
              <a:t>•  Lower fiscal deficit and less debt interest. FY2026 showed what a primary surplus can do; a broader base makes it lasting.</a:t>
            </a:r>
          </a:p>
          <a:p>
            <a:pPr>
              <a:spcAft>
                <a:spcPts val="800"/>
              </a:spcAft>
            </a:pPr>
            <a:r>
              <a:rPr sz="1500" b="0" i="0">
                <a:solidFill>
                  <a:srgbClr val="14201B"/>
                </a:solidFill>
                <a:latin typeface="Calibri"/>
                <a:ea typeface="Calibri"/>
                <a:cs typeface="Calibri"/>
              </a:rPr>
              <a:t>•  Subsidies can be targeted instead of sprayed — including on power.</a:t>
            </a:r>
          </a:p>
          <a:p>
            <a:pPr>
              <a:spcAft>
                <a:spcPts val="800"/>
              </a:spcAft>
            </a:pPr>
            <a:r>
              <a:rPr sz="1500" b="0" i="0">
                <a:solidFill>
                  <a:srgbClr val="14201B"/>
                </a:solidFill>
                <a:latin typeface="Calibri"/>
                <a:ea typeface="Calibri"/>
                <a:cs typeface="Calibri"/>
              </a:rPr>
              <a:t>•  Better policy: you cannot plan industry, exports or cities if half of GDP is a rumour.</a:t>
            </a:r>
          </a:p>
        </p:txBody>
      </p:sp>
      <p:sp>
        <p:nvSpPr>
          <p:cNvPr id="11" name="Rounded Rectangle 10"/>
          <p:cNvSpPr/>
          <p:nvPr/>
        </p:nvSpPr>
        <p:spPr>
          <a:xfrm>
            <a:off x="6217920" y="1554480"/>
            <a:ext cx="5486400" cy="448056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737360"/>
            <a:ext cx="5029200" cy="274320"/>
          </a:xfrm>
          <a:prstGeom prst="rect">
            <a:avLst/>
          </a:prstGeom>
          <a:noFill/>
        </p:spPr>
        <p:txBody>
          <a:bodyPr wrap="square">
            <a:spAutoFit/>
          </a:bodyPr>
          <a:lstStyle/>
          <a:p>
            <a:pPr algn="l"/>
            <a:r>
              <a:rPr sz="1200" b="1" i="0">
                <a:solidFill>
                  <a:srgbClr val="C9A227"/>
                </a:solidFill>
                <a:latin typeface="Calibri"/>
                <a:ea typeface="Calibri"/>
                <a:cs typeface="Calibri"/>
              </a:rPr>
              <a:t>FOR THE CITIZEN AND THE HONEST BUSINESS</a:t>
            </a:r>
          </a:p>
        </p:txBody>
      </p:sp>
      <p:sp>
        <p:nvSpPr>
          <p:cNvPr id="13" name="TextBox 12"/>
          <p:cNvSpPr txBox="1"/>
          <p:nvPr/>
        </p:nvSpPr>
        <p:spPr>
          <a:xfrm>
            <a:off x="6446520" y="2148840"/>
            <a:ext cx="5029200" cy="3657600"/>
          </a:xfrm>
          <a:prstGeom prst="rect">
            <a:avLst/>
          </a:prstGeom>
          <a:noFill/>
        </p:spPr>
        <p:txBody>
          <a:bodyPr wrap="square">
            <a:spAutoFit/>
          </a:bodyPr>
          <a:lstStyle/>
          <a:p>
            <a:pPr>
              <a:spcAft>
                <a:spcPts val="800"/>
              </a:spcAft>
            </a:pPr>
            <a:r>
              <a:rPr sz="1500" b="0" i="0">
                <a:solidFill>
                  <a:srgbClr val="14201B"/>
                </a:solidFill>
                <a:latin typeface="Calibri"/>
                <a:ea typeface="Calibri"/>
                <a:cs typeface="Calibri"/>
              </a:rPr>
              <a:t>•  ATL / filer status: lowest withholding on property, cars, bank profit, dividends; refund of extra tax; normal bank accounts.</a:t>
            </a:r>
          </a:p>
          <a:p>
            <a:pPr>
              <a:spcAft>
                <a:spcPts val="800"/>
              </a:spcAft>
            </a:pPr>
            <a:r>
              <a:rPr sz="1500" b="0" i="0">
                <a:solidFill>
                  <a:srgbClr val="14201B"/>
                </a:solidFill>
                <a:latin typeface="Calibri"/>
                <a:ea typeface="Calibri"/>
                <a:cs typeface="Calibri"/>
              </a:rPr>
              <a:t>•  Documented sales are the passport to bank loans, export certification and government tenders.</a:t>
            </a:r>
          </a:p>
          <a:p>
            <a:pPr>
              <a:spcAft>
                <a:spcPts val="800"/>
              </a:spcAft>
            </a:pPr>
            <a:r>
              <a:rPr sz="1500" b="0" i="0">
                <a:solidFill>
                  <a:srgbClr val="14201B"/>
                </a:solidFill>
                <a:latin typeface="Calibri"/>
                <a:ea typeface="Calibri"/>
                <a:cs typeface="Calibri"/>
              </a:rPr>
              <a:t>•  Fair competition: the shop that issues invoices stops losing to the shop that hides turnover.</a:t>
            </a:r>
          </a:p>
          <a:p>
            <a:pPr>
              <a:spcAft>
                <a:spcPts val="800"/>
              </a:spcAft>
            </a:pPr>
            <a:r>
              <a:rPr sz="1500" b="0" i="0">
                <a:solidFill>
                  <a:srgbClr val="14201B"/>
                </a:solidFill>
                <a:latin typeface="Calibri"/>
                <a:ea typeface="Calibri"/>
                <a:cs typeface="Calibri"/>
              </a:rPr>
              <a:t>•  Dignity: a return is proof of contribution — and proof of income for a visa, a plot, or a court.</a:t>
            </a:r>
          </a:p>
        </p:txBody>
      </p:sp>
      <p:sp>
        <p:nvSpPr>
          <p:cNvPr id="14" name="TextBox 13"/>
          <p:cNvSpPr txBox="1"/>
          <p:nvPr/>
        </p:nvSpPr>
        <p:spPr>
          <a:xfrm>
            <a:off x="502920" y="6510528"/>
            <a:ext cx="7772400" cy="256032"/>
          </a:xfrm>
          <a:prstGeom prst="rect">
            <a:avLst/>
          </a:prstGeom>
          <a:noFill/>
        </p:spPr>
        <p:txBody>
          <a:bodyPr wrap="square">
            <a:spAutoFit/>
          </a:bodyPr>
          <a:lstStyle/>
          <a:p>
            <a:pPr algn="l"/>
            <a:r>
              <a:rPr sz="1000" b="0" i="0">
                <a:solidFill>
                  <a:srgbClr val="5C6B64"/>
                </a:solidFill>
                <a:latin typeface="Calibri"/>
                <a:ea typeface="Calibri"/>
                <a:cs typeface="Calibri"/>
              </a:rPr>
              <a:t>A Documented Pakistan</a:t>
            </a:r>
          </a:p>
        </p:txBody>
      </p:sp>
      <p:sp>
        <p:nvSpPr>
          <p:cNvPr id="15" name="TextBox 14"/>
          <p:cNvSpPr txBox="1"/>
          <p:nvPr/>
        </p:nvSpPr>
        <p:spPr>
          <a:xfrm>
            <a:off x="8412480" y="6510528"/>
            <a:ext cx="3246120" cy="256032"/>
          </a:xfrm>
          <a:prstGeom prst="rect">
            <a:avLst/>
          </a:prstGeom>
          <a:noFill/>
        </p:spPr>
        <p:txBody>
          <a:bodyPr wrap="square">
            <a:spAutoFit/>
          </a:bodyPr>
          <a:lstStyle/>
          <a:p>
            <a:pPr algn="r"/>
            <a:r>
              <a:rPr sz="1000" b="0" i="0">
                <a:solidFill>
                  <a:srgbClr val="5C6B64"/>
                </a:solidFill>
                <a:latin typeface="Calibri"/>
                <a:ea typeface="Calibri"/>
                <a:cs typeface="Calibri"/>
              </a:rPr>
              <a:t>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292608"/>
          </a:xfrm>
          <a:prstGeom prst="rect">
            <a:avLst/>
          </a:prstGeom>
          <a:noFill/>
        </p:spPr>
        <p:txBody>
          <a:bodyPr wrap="square">
            <a:spAutoFit/>
          </a:bodyPr>
          <a:lstStyle/>
          <a:p>
            <a:pPr algn="l"/>
            <a:r>
              <a:rPr sz="1100" b="1" i="0">
                <a:solidFill>
                  <a:srgbClr val="E8D48B"/>
                </a:solidFill>
                <a:latin typeface="Calibri"/>
                <a:ea typeface="Calibri"/>
                <a:cs typeface="Calibri"/>
              </a:rPr>
              <a:t>06  —  COMPLETE PAKISTAN PICTURE</a:t>
            </a:r>
          </a:p>
        </p:txBody>
      </p:sp>
      <p:sp>
        <p:nvSpPr>
          <p:cNvPr id="5" name="TextBox 4"/>
          <p:cNvSpPr txBox="1"/>
          <p:nvPr/>
        </p:nvSpPr>
        <p:spPr>
          <a:xfrm>
            <a:off x="502920" y="566928"/>
            <a:ext cx="11155680" cy="640080"/>
          </a:xfrm>
          <a:prstGeom prst="rect">
            <a:avLst/>
          </a:prstGeom>
          <a:noFill/>
        </p:spPr>
        <p:txBody>
          <a:bodyPr wrap="square">
            <a:spAutoFit/>
          </a:bodyPr>
          <a:lstStyle/>
          <a:p>
            <a:pPr algn="l"/>
            <a:r>
              <a:rPr sz="2200" b="1" i="0">
                <a:solidFill>
                  <a:srgbClr val="F6F1E6"/>
                </a:solidFill>
                <a:latin typeface="Georgia"/>
                <a:ea typeface="Georgia"/>
                <a:cs typeface="Georgia"/>
              </a:rPr>
              <a:t>How we achieve this in Pakistan — benefits, punishments, and the cost of not doing it</a:t>
            </a:r>
          </a:p>
        </p:txBody>
      </p:sp>
      <p:sp>
        <p:nvSpPr>
          <p:cNvPr id="6" name="TextBox 5"/>
          <p:cNvSpPr txBox="1"/>
          <p:nvPr/>
        </p:nvSpPr>
        <p:spPr>
          <a:xfrm>
            <a:off x="502920" y="1170432"/>
            <a:ext cx="11155680" cy="274320"/>
          </a:xfrm>
          <a:prstGeom prst="rect">
            <a:avLst/>
          </a:prstGeom>
          <a:noFill/>
        </p:spPr>
        <p:txBody>
          <a:bodyPr wrap="square">
            <a:spAutoFit/>
          </a:bodyPr>
          <a:lstStyle/>
          <a:p>
            <a:pPr algn="l"/>
            <a:r>
              <a:rPr sz="1300" b="0" i="0">
                <a:solidFill>
                  <a:srgbClr val="E8D48B"/>
                </a:solidFill>
                <a:latin typeface="Calibri"/>
                <a:ea typeface="Calibri"/>
                <a:cs typeface="Calibri"/>
              </a:rPr>
              <a:t>One slide. Four answers. This is the civic choice in front of the country.</a:t>
            </a:r>
          </a:p>
        </p:txBody>
      </p:sp>
      <p:sp>
        <p:nvSpPr>
          <p:cNvPr id="7" name="Rounded Rectangle 6"/>
          <p:cNvSpPr/>
          <p:nvPr/>
        </p:nvSpPr>
        <p:spPr>
          <a:xfrm>
            <a:off x="365760" y="1508760"/>
            <a:ext cx="5623560" cy="2240280"/>
          </a:xfrm>
          <a:prstGeom prst="roundRect">
            <a:avLst>
              <a:gd name="adj" fmla="val 8000"/>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581912"/>
            <a:ext cx="5303520" cy="292608"/>
          </a:xfrm>
          <a:prstGeom prst="rect">
            <a:avLst/>
          </a:prstGeom>
          <a:noFill/>
        </p:spPr>
        <p:txBody>
          <a:bodyPr wrap="square">
            <a:spAutoFit/>
          </a:bodyPr>
          <a:lstStyle/>
          <a:p>
            <a:pPr algn="l"/>
            <a:r>
              <a:rPr sz="1000" b="1" i="0">
                <a:solidFill>
                  <a:srgbClr val="E8D48B"/>
                </a:solidFill>
                <a:latin typeface="Calibri"/>
                <a:ea typeface="Calibri"/>
                <a:cs typeface="Calibri"/>
              </a:rPr>
              <a:t>A  ·  HOW WE ACHIEVE IT</a:t>
            </a:r>
          </a:p>
        </p:txBody>
      </p:sp>
      <p:sp>
        <p:nvSpPr>
          <p:cNvPr id="9" name="TextBox 8"/>
          <p:cNvSpPr txBox="1"/>
          <p:nvPr/>
        </p:nvSpPr>
        <p:spPr>
          <a:xfrm>
            <a:off x="475488" y="1856232"/>
            <a:ext cx="5394960" cy="1828800"/>
          </a:xfrm>
          <a:prstGeom prst="rect">
            <a:avLst/>
          </a:prstGeom>
          <a:noFill/>
        </p:spPr>
        <p:txBody>
          <a:bodyPr wrap="square">
            <a:spAutoFit/>
          </a:bodyPr>
          <a:lstStyle/>
          <a:p>
            <a:pPr>
              <a:spcAft>
                <a:spcPts val="800"/>
              </a:spcAft>
            </a:pPr>
            <a:r>
              <a:rPr sz="1100" b="0" i="0">
                <a:solidFill>
                  <a:srgbClr val="F6F1E6"/>
                </a:solidFill>
                <a:latin typeface="Calibri"/>
                <a:ea typeface="Calibri"/>
                <a:cs typeface="Calibri"/>
              </a:rPr>
              <a:t>•  Every earner files; traders join Asaan Tax (1% turnover, min Rs 25,000) or the regular return.</a:t>
            </a:r>
          </a:p>
          <a:p>
            <a:pPr>
              <a:spcAft>
                <a:spcPts val="800"/>
              </a:spcAft>
            </a:pPr>
            <a:r>
              <a:rPr sz="1100" b="0" i="0">
                <a:solidFill>
                  <a:srgbClr val="F6F1E6"/>
                </a:solidFill>
                <a:latin typeface="Calibri"/>
                <a:ea typeface="Calibri"/>
                <a:cs typeface="Calibri"/>
              </a:rPr>
              <a:t>•  Large retail / notified sectors live on FBR e-invoices and POS — no sale off-system.</a:t>
            </a:r>
          </a:p>
          <a:p>
            <a:pPr>
              <a:spcAft>
                <a:spcPts val="800"/>
              </a:spcAft>
            </a:pPr>
            <a:r>
              <a:rPr sz="1100" b="0" i="0">
                <a:solidFill>
                  <a:srgbClr val="F6F1E6"/>
                </a:solidFill>
                <a:latin typeface="Calibri"/>
                <a:ea typeface="Calibri"/>
                <a:cs typeface="Calibri"/>
              </a:rPr>
              <a:t>•  Banks, land records, NADRA, customs and utilities talk to IRIS so lifestyle matches income.</a:t>
            </a:r>
          </a:p>
          <a:p>
            <a:pPr>
              <a:spcAft>
                <a:spcPts val="800"/>
              </a:spcAft>
            </a:pPr>
            <a:r>
              <a:rPr sz="1100" b="0" i="0">
                <a:solidFill>
                  <a:srgbClr val="F6F1E6"/>
                </a:solidFill>
                <a:latin typeface="Calibri"/>
                <a:ea typeface="Calibri"/>
                <a:cs typeface="Calibri"/>
              </a:rPr>
              <a:t>•  The state cuts harassment, keeps rates predictable, and spends visibly so people see a return on tax.</a:t>
            </a:r>
          </a:p>
          <a:p>
            <a:pPr>
              <a:spcAft>
                <a:spcPts val="800"/>
              </a:spcAft>
            </a:pPr>
            <a:r>
              <a:rPr sz="1100" b="0" i="0">
                <a:solidFill>
                  <a:srgbClr val="F6F1E6"/>
                </a:solidFill>
                <a:latin typeface="Calibri"/>
                <a:ea typeface="Calibri"/>
                <a:cs typeface="Calibri"/>
              </a:rPr>
              <a:t>•  Provinces document urban property and agricultural wealth instead of leaving the salaried class alone in the net.</a:t>
            </a:r>
          </a:p>
        </p:txBody>
      </p:sp>
      <p:sp>
        <p:nvSpPr>
          <p:cNvPr id="10" name="Rounded Rectangle 9"/>
          <p:cNvSpPr/>
          <p:nvPr/>
        </p:nvSpPr>
        <p:spPr>
          <a:xfrm>
            <a:off x="6172200" y="1508760"/>
            <a:ext cx="5623560" cy="2240280"/>
          </a:xfrm>
          <a:prstGeom prst="roundRect">
            <a:avLst>
              <a:gd name="adj" fmla="val 8000"/>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581912"/>
            <a:ext cx="5303520" cy="292608"/>
          </a:xfrm>
          <a:prstGeom prst="rect">
            <a:avLst/>
          </a:prstGeom>
          <a:noFill/>
        </p:spPr>
        <p:txBody>
          <a:bodyPr wrap="square">
            <a:spAutoFit/>
          </a:bodyPr>
          <a:lstStyle/>
          <a:p>
            <a:pPr algn="l"/>
            <a:r>
              <a:rPr sz="1000" b="1" i="0">
                <a:solidFill>
                  <a:srgbClr val="E8D48B"/>
                </a:solidFill>
                <a:latin typeface="Calibri"/>
                <a:ea typeface="Calibri"/>
                <a:cs typeface="Calibri"/>
              </a:rPr>
              <a:t>B  ·  BENEFITS IF WE DO IT</a:t>
            </a:r>
          </a:p>
        </p:txBody>
      </p:sp>
      <p:sp>
        <p:nvSpPr>
          <p:cNvPr id="12" name="TextBox 11"/>
          <p:cNvSpPr txBox="1"/>
          <p:nvPr/>
        </p:nvSpPr>
        <p:spPr>
          <a:xfrm>
            <a:off x="6281928" y="1856232"/>
            <a:ext cx="5394960" cy="1828800"/>
          </a:xfrm>
          <a:prstGeom prst="rect">
            <a:avLst/>
          </a:prstGeom>
          <a:noFill/>
        </p:spPr>
        <p:txBody>
          <a:bodyPr wrap="square">
            <a:spAutoFit/>
          </a:bodyPr>
          <a:lstStyle/>
          <a:p>
            <a:pPr>
              <a:spcAft>
                <a:spcPts val="800"/>
              </a:spcAft>
            </a:pPr>
            <a:r>
              <a:rPr sz="1100" b="0" i="0">
                <a:solidFill>
                  <a:srgbClr val="F6F1E6"/>
                </a:solidFill>
                <a:latin typeface="Calibri"/>
                <a:ea typeface="Calibri"/>
                <a:cs typeface="Calibri"/>
              </a:rPr>
              <a:t>•  Wider tax base → room to lower rates on those already paying.</a:t>
            </a:r>
          </a:p>
          <a:p>
            <a:pPr>
              <a:spcAft>
                <a:spcPts val="800"/>
              </a:spcAft>
            </a:pPr>
            <a:r>
              <a:rPr sz="1100" b="0" i="0">
                <a:solidFill>
                  <a:srgbClr val="F6F1E6"/>
                </a:solidFill>
                <a:latin typeface="Calibri"/>
                <a:ea typeface="Calibri"/>
                <a:cs typeface="Calibri"/>
              </a:rPr>
              <a:t>•  ATL benefits: cheaper withholding, refunds, cars, plots, bank accounts, tenders.</a:t>
            </a:r>
          </a:p>
          <a:p>
            <a:pPr>
              <a:spcAft>
                <a:spcPts val="800"/>
              </a:spcAft>
            </a:pPr>
            <a:r>
              <a:rPr sz="1100" b="0" i="0">
                <a:solidFill>
                  <a:srgbClr val="F6F1E6"/>
                </a:solidFill>
                <a:latin typeface="Calibri"/>
                <a:ea typeface="Calibri"/>
                <a:cs typeface="Calibri"/>
              </a:rPr>
              <a:t>•  Banks can lend against real books; investment and jobs follow documentation.</a:t>
            </a:r>
          </a:p>
          <a:p>
            <a:pPr>
              <a:spcAft>
                <a:spcPts val="800"/>
              </a:spcAft>
            </a:pPr>
            <a:r>
              <a:rPr sz="1100" b="0" i="0">
                <a:solidFill>
                  <a:srgbClr val="F6F1E6"/>
                </a:solidFill>
                <a:latin typeface="Calibri"/>
                <a:ea typeface="Calibri"/>
                <a:cs typeface="Calibri"/>
              </a:rPr>
              <a:t>•  State can fund education, health, water and climate without repeating debt crises.</a:t>
            </a:r>
          </a:p>
          <a:p>
            <a:pPr>
              <a:spcAft>
                <a:spcPts val="800"/>
              </a:spcAft>
            </a:pPr>
            <a:r>
              <a:rPr sz="1100" b="0" i="0">
                <a:solidFill>
                  <a:srgbClr val="F6F1E6"/>
                </a:solidFill>
                <a:latin typeface="Calibri"/>
                <a:ea typeface="Calibri"/>
                <a:cs typeface="Calibri"/>
              </a:rPr>
              <a:t>•  Informal 35–40% of GDP slowly becomes countable, taxable and financeable.</a:t>
            </a:r>
          </a:p>
        </p:txBody>
      </p:sp>
      <p:sp>
        <p:nvSpPr>
          <p:cNvPr id="13" name="Rounded Rectangle 12"/>
          <p:cNvSpPr/>
          <p:nvPr/>
        </p:nvSpPr>
        <p:spPr>
          <a:xfrm>
            <a:off x="365760" y="3840480"/>
            <a:ext cx="5623560" cy="2240280"/>
          </a:xfrm>
          <a:prstGeom prst="roundRect">
            <a:avLst>
              <a:gd name="adj" fmla="val 8000"/>
            </a:avLst>
          </a:prstGeom>
          <a:solidFill>
            <a:srgbClr val="3A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3913632"/>
            <a:ext cx="5303520" cy="292608"/>
          </a:xfrm>
          <a:prstGeom prst="rect">
            <a:avLst/>
          </a:prstGeom>
          <a:noFill/>
        </p:spPr>
        <p:txBody>
          <a:bodyPr wrap="square">
            <a:spAutoFit/>
          </a:bodyPr>
          <a:lstStyle/>
          <a:p>
            <a:pPr algn="l"/>
            <a:r>
              <a:rPr sz="1000" b="1" i="0">
                <a:solidFill>
                  <a:srgbClr val="E8D48B"/>
                </a:solidFill>
                <a:latin typeface="Calibri"/>
                <a:ea typeface="Calibri"/>
                <a:cs typeface="Calibri"/>
              </a:rPr>
              <a:t>C  ·  PUNISHMENT IF ONE DOES NOT APPLY / IF THE LAW IS APPLIED</a:t>
            </a:r>
          </a:p>
        </p:txBody>
      </p:sp>
      <p:sp>
        <p:nvSpPr>
          <p:cNvPr id="15" name="TextBox 14"/>
          <p:cNvSpPr txBox="1"/>
          <p:nvPr/>
        </p:nvSpPr>
        <p:spPr>
          <a:xfrm>
            <a:off x="475488" y="4187952"/>
            <a:ext cx="5394960" cy="1828800"/>
          </a:xfrm>
          <a:prstGeom prst="rect">
            <a:avLst/>
          </a:prstGeom>
          <a:noFill/>
        </p:spPr>
        <p:txBody>
          <a:bodyPr wrap="square">
            <a:spAutoFit/>
          </a:bodyPr>
          <a:lstStyle/>
          <a:p>
            <a:pPr>
              <a:spcAft>
                <a:spcPts val="800"/>
              </a:spcAft>
            </a:pPr>
            <a:r>
              <a:rPr sz="1100" b="0" i="0">
                <a:solidFill>
                  <a:srgbClr val="F6F1E6"/>
                </a:solidFill>
                <a:latin typeface="Calibri"/>
                <a:ea typeface="Calibri"/>
                <a:cs typeface="Calibri"/>
              </a:rPr>
              <a:t>•  Non-filer: 2–4× withholding on banks, property, cars, dividends; no ordinary new bank account; no refund.</a:t>
            </a:r>
          </a:p>
          <a:p>
            <a:pPr>
              <a:spcAft>
                <a:spcPts val="800"/>
              </a:spcAft>
            </a:pPr>
            <a:r>
              <a:rPr sz="1100" b="0" i="0">
                <a:solidFill>
                  <a:srgbClr val="F6F1E6"/>
                </a:solidFill>
                <a:latin typeface="Calibri"/>
                <a:ea typeface="Calibri"/>
                <a:cs typeface="Calibri"/>
              </a:rPr>
              <a:t>•  Late filer: daily default penalty + ATL surcharge (individuals Rs 25,000 in 2026-27).</a:t>
            </a:r>
          </a:p>
          <a:p>
            <a:pPr>
              <a:spcAft>
                <a:spcPts val="800"/>
              </a:spcAft>
            </a:pPr>
            <a:r>
              <a:rPr sz="1100" b="0" i="0">
                <a:solidFill>
                  <a:srgbClr val="F6F1E6"/>
                </a:solidFill>
                <a:latin typeface="Calibri"/>
                <a:ea typeface="Calibri"/>
                <a:cs typeface="Calibri"/>
              </a:rPr>
              <a:t>•  Concealment / false particulars: penalty raised to Rs 1 million (Finance Bill 2026) plus tax evaded.</a:t>
            </a:r>
          </a:p>
          <a:p>
            <a:pPr>
              <a:spcAft>
                <a:spcPts val="800"/>
              </a:spcAft>
            </a:pPr>
            <a:r>
              <a:rPr sz="1100" b="0" i="0">
                <a:solidFill>
                  <a:srgbClr val="F6F1E6"/>
                </a:solidFill>
                <a:latin typeface="Calibri"/>
                <a:ea typeface="Calibri"/>
                <a:cs typeface="Calibri"/>
              </a:rPr>
              <a:t>•  No records on audit: Rs 100,000 / 200,000 / 300,000. Failure to withhold: Rs 500,000; company officers personally Rs 500,000.</a:t>
            </a:r>
          </a:p>
          <a:p>
            <a:pPr>
              <a:spcAft>
                <a:spcPts val="800"/>
              </a:spcAft>
            </a:pPr>
            <a:r>
              <a:rPr sz="1100" b="0" i="0">
                <a:solidFill>
                  <a:srgbClr val="F6F1E6"/>
                </a:solidFill>
                <a:latin typeface="Calibri"/>
                <a:ea typeface="Calibri"/>
                <a:cs typeface="Calibri"/>
              </a:rPr>
              <a:t>•  Section 114C (gazette pending): blocks cars over Rs 7m, homes over Rs 50m, commercial property over Rs 100m, securities over Rs 50m/year, cash out over Rs 100m/year unless resources are declared at 130% of the deal. Persistent default: fines and power to seal premises.</a:t>
            </a:r>
          </a:p>
        </p:txBody>
      </p:sp>
      <p:sp>
        <p:nvSpPr>
          <p:cNvPr id="16" name="Rounded Rectangle 15"/>
          <p:cNvSpPr/>
          <p:nvPr/>
        </p:nvSpPr>
        <p:spPr>
          <a:xfrm>
            <a:off x="6172200" y="3840480"/>
            <a:ext cx="5623560" cy="2240280"/>
          </a:xfrm>
          <a:prstGeom prst="roundRect">
            <a:avLst>
              <a:gd name="adj" fmla="val 8000"/>
            </a:avLst>
          </a:prstGeom>
          <a:solidFill>
            <a:srgbClr val="2A2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3913632"/>
            <a:ext cx="5303520" cy="292608"/>
          </a:xfrm>
          <a:prstGeom prst="rect">
            <a:avLst/>
          </a:prstGeom>
          <a:noFill/>
        </p:spPr>
        <p:txBody>
          <a:bodyPr wrap="square">
            <a:spAutoFit/>
          </a:bodyPr>
          <a:lstStyle/>
          <a:p>
            <a:pPr algn="l"/>
            <a:r>
              <a:rPr sz="1000" b="1" i="0">
                <a:solidFill>
                  <a:srgbClr val="E8D48B"/>
                </a:solidFill>
                <a:latin typeface="Calibri"/>
                <a:ea typeface="Calibri"/>
                <a:cs typeface="Calibri"/>
              </a:rPr>
              <a:t>D  ·  PROBLEMS WE FACE BY NOT DOING THIS</a:t>
            </a:r>
          </a:p>
        </p:txBody>
      </p:sp>
      <p:sp>
        <p:nvSpPr>
          <p:cNvPr id="18" name="TextBox 17"/>
          <p:cNvSpPr txBox="1"/>
          <p:nvPr/>
        </p:nvSpPr>
        <p:spPr>
          <a:xfrm>
            <a:off x="6281928" y="4187952"/>
            <a:ext cx="5394960" cy="1828800"/>
          </a:xfrm>
          <a:prstGeom prst="rect">
            <a:avLst/>
          </a:prstGeom>
          <a:noFill/>
        </p:spPr>
        <p:txBody>
          <a:bodyPr wrap="square">
            <a:spAutoFit/>
          </a:bodyPr>
          <a:lstStyle/>
          <a:p>
            <a:pPr>
              <a:spcAft>
                <a:spcPts val="800"/>
              </a:spcAft>
            </a:pPr>
            <a:r>
              <a:rPr sz="1100" b="0" i="0">
                <a:solidFill>
                  <a:srgbClr val="F6F1E6"/>
                </a:solidFill>
                <a:latin typeface="Calibri"/>
                <a:ea typeface="Calibri"/>
                <a:cs typeface="Calibri"/>
              </a:rPr>
              <a:t>•  The documented minority is over-taxed; the undocumented majority is invisible — a justice failure, not only a fiscal one.</a:t>
            </a:r>
          </a:p>
          <a:p>
            <a:pPr>
              <a:spcAft>
                <a:spcPts val="800"/>
              </a:spcAft>
            </a:pPr>
            <a:r>
              <a:rPr sz="1100" b="0" i="0">
                <a:solidFill>
                  <a:srgbClr val="F6F1E6"/>
                </a:solidFill>
                <a:latin typeface="Calibri"/>
                <a:ea typeface="Calibri"/>
                <a:cs typeface="Calibri"/>
              </a:rPr>
              <a:t>•  Every budget becomes an IMF negotiation because the base is too small for the state’s bills.</a:t>
            </a:r>
          </a:p>
          <a:p>
            <a:pPr>
              <a:spcAft>
                <a:spcPts val="800"/>
              </a:spcAft>
            </a:pPr>
            <a:r>
              <a:rPr sz="1100" b="0" i="0">
                <a:solidFill>
                  <a:srgbClr val="F6F1E6"/>
                </a:solidFill>
                <a:latin typeface="Calibri"/>
                <a:ea typeface="Calibri"/>
                <a:cs typeface="Calibri"/>
              </a:rPr>
              <a:t>•  Cash, smuggling and benami property hide crime, terror finance and elite tax evasion in the same fog.</a:t>
            </a:r>
          </a:p>
          <a:p>
            <a:pPr>
              <a:spcAft>
                <a:spcPts val="800"/>
              </a:spcAft>
            </a:pPr>
            <a:r>
              <a:rPr sz="1100" b="0" i="0">
                <a:solidFill>
                  <a:srgbClr val="F6F1E6"/>
                </a:solidFill>
                <a:latin typeface="Calibri"/>
                <a:ea typeface="Calibri"/>
                <a:cs typeface="Calibri"/>
              </a:rPr>
              <a:t>•  Honest businesses cannot compete; talent leaves; investment stays short-term and speculative.</a:t>
            </a:r>
          </a:p>
          <a:p>
            <a:pPr>
              <a:spcAft>
                <a:spcPts val="800"/>
              </a:spcAft>
            </a:pPr>
            <a:r>
              <a:rPr sz="1100" b="0" i="0">
                <a:solidFill>
                  <a:srgbClr val="F6F1E6"/>
                </a:solidFill>
                <a:latin typeface="Calibri"/>
                <a:ea typeface="Calibri"/>
                <a:cs typeface="Calibri"/>
              </a:rPr>
              <a:t>•  No data means bad schools, leaking power, unplanned cities, and subsidies that never reach the poor.</a:t>
            </a:r>
          </a:p>
        </p:txBody>
      </p:sp>
      <p:sp>
        <p:nvSpPr>
          <p:cNvPr id="19" name="TextBox 18"/>
          <p:cNvSpPr txBox="1"/>
          <p:nvPr/>
        </p:nvSpPr>
        <p:spPr>
          <a:xfrm>
            <a:off x="502920" y="6510528"/>
            <a:ext cx="7772400" cy="256032"/>
          </a:xfrm>
          <a:prstGeom prst="rect">
            <a:avLst/>
          </a:prstGeom>
          <a:noFill/>
        </p:spPr>
        <p:txBody>
          <a:bodyPr wrap="square">
            <a:spAutoFit/>
          </a:bodyPr>
          <a:lstStyle/>
          <a:p>
            <a:pPr algn="l"/>
            <a:r>
              <a:rPr sz="1000" b="0" i="0">
                <a:solidFill>
                  <a:srgbClr val="A8B5AE"/>
                </a:solidFill>
                <a:latin typeface="Calibri"/>
                <a:ea typeface="Calibri"/>
                <a:cs typeface="Calibri"/>
              </a:rPr>
              <a:t>The complete civic slide  ·  Apply · Benefit · Or pay the penalty</a:t>
            </a:r>
          </a:p>
        </p:txBody>
      </p:sp>
      <p:sp>
        <p:nvSpPr>
          <p:cNvPr id="20" name="TextBox 19"/>
          <p:cNvSpPr txBox="1"/>
          <p:nvPr/>
        </p:nvSpPr>
        <p:spPr>
          <a:xfrm>
            <a:off x="8412480" y="6510528"/>
            <a:ext cx="3246120" cy="256032"/>
          </a:xfrm>
          <a:prstGeom prst="rect">
            <a:avLst/>
          </a:prstGeom>
          <a:noFill/>
        </p:spPr>
        <p:txBody>
          <a:bodyPr wrap="square">
            <a:spAutoFit/>
          </a:bodyPr>
          <a:lstStyle/>
          <a:p>
            <a:pPr algn="r"/>
            <a:r>
              <a:rPr sz="1000" b="0" i="0">
                <a:solidFill>
                  <a:srgbClr val="A8B5AE"/>
                </a:solidFill>
                <a:latin typeface="Calibri"/>
                <a:ea typeface="Calibri"/>
                <a:cs typeface="Calibri"/>
              </a:rPr>
              <a:t>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292608"/>
          </a:xfrm>
          <a:prstGeom prst="rect">
            <a:avLst/>
          </a:prstGeom>
          <a:noFill/>
        </p:spPr>
        <p:txBody>
          <a:bodyPr wrap="square">
            <a:spAutoFit/>
          </a:bodyPr>
          <a:lstStyle/>
          <a:p>
            <a:pPr algn="l"/>
            <a:r>
              <a:rPr sz="1100" b="1" i="0">
                <a:solidFill>
                  <a:srgbClr val="C9A227"/>
                </a:solidFill>
                <a:latin typeface="Calibri"/>
                <a:ea typeface="Calibri"/>
                <a:cs typeface="Calibri"/>
              </a:rPr>
              <a:t>07  —  PUNISHMENT IF APPLIED</a:t>
            </a:r>
          </a:p>
        </p:txBody>
      </p:sp>
      <p:sp>
        <p:nvSpPr>
          <p:cNvPr id="6" name="TextBox 5"/>
          <p:cNvSpPr txBox="1"/>
          <p:nvPr/>
        </p:nvSpPr>
        <p:spPr>
          <a:xfrm>
            <a:off x="502920" y="566928"/>
            <a:ext cx="11155680" cy="594360"/>
          </a:xfrm>
          <a:prstGeom prst="rect">
            <a:avLst/>
          </a:prstGeom>
          <a:noFill/>
        </p:spPr>
        <p:txBody>
          <a:bodyPr wrap="square">
            <a:spAutoFit/>
          </a:bodyPr>
          <a:lstStyle/>
          <a:p>
            <a:pPr algn="l"/>
            <a:r>
              <a:rPr sz="2800" b="1" i="0">
                <a:solidFill>
                  <a:srgbClr val="14201B"/>
                </a:solidFill>
                <a:latin typeface="Georgia"/>
                <a:ea typeface="Georgia"/>
                <a:cs typeface="Georgia"/>
              </a:rPr>
              <a:t>What the law does to you if you do not apply</a:t>
            </a:r>
          </a:p>
        </p:txBody>
      </p:sp>
      <p:sp>
        <p:nvSpPr>
          <p:cNvPr id="7" name="Rectangle 6"/>
          <p:cNvSpPr/>
          <p:nvPr/>
        </p:nvSpPr>
        <p:spPr>
          <a:xfrm>
            <a:off x="502920" y="123444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2880360" cy="34747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453896"/>
            <a:ext cx="2770632" cy="292608"/>
          </a:xfrm>
          <a:prstGeom prst="rect">
            <a:avLst/>
          </a:prstGeom>
          <a:noFill/>
        </p:spPr>
        <p:txBody>
          <a:bodyPr wrap="square">
            <a:spAutoFit/>
          </a:bodyPr>
          <a:lstStyle/>
          <a:p>
            <a:pPr algn="l"/>
            <a:r>
              <a:rPr sz="1000" b="1" i="0">
                <a:solidFill>
                  <a:srgbClr val="F6F1E6"/>
                </a:solidFill>
                <a:latin typeface="Calibri"/>
                <a:ea typeface="Calibri"/>
                <a:cs typeface="Calibri"/>
              </a:rPr>
              <a:t>If you…</a:t>
            </a:r>
          </a:p>
        </p:txBody>
      </p:sp>
      <p:sp>
        <p:nvSpPr>
          <p:cNvPr id="10" name="Rectangle 9"/>
          <p:cNvSpPr/>
          <p:nvPr/>
        </p:nvSpPr>
        <p:spPr>
          <a:xfrm>
            <a:off x="3383280" y="1417320"/>
            <a:ext cx="2194560" cy="34747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453896"/>
            <a:ext cx="2084832" cy="292608"/>
          </a:xfrm>
          <a:prstGeom prst="rect">
            <a:avLst/>
          </a:prstGeom>
          <a:noFill/>
        </p:spPr>
        <p:txBody>
          <a:bodyPr wrap="square">
            <a:spAutoFit/>
          </a:bodyPr>
          <a:lstStyle/>
          <a:p>
            <a:pPr algn="l"/>
            <a:r>
              <a:rPr sz="1000" b="1" i="0">
                <a:solidFill>
                  <a:srgbClr val="F6F1E6"/>
                </a:solidFill>
                <a:latin typeface="Calibri"/>
                <a:ea typeface="Calibri"/>
                <a:cs typeface="Calibri"/>
              </a:rPr>
              <a:t>Status</a:t>
            </a:r>
          </a:p>
        </p:txBody>
      </p:sp>
      <p:sp>
        <p:nvSpPr>
          <p:cNvPr id="12" name="Rectangle 11"/>
          <p:cNvSpPr/>
          <p:nvPr/>
        </p:nvSpPr>
        <p:spPr>
          <a:xfrm>
            <a:off x="5577840" y="1417320"/>
            <a:ext cx="6080760" cy="34747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50992" y="1453896"/>
            <a:ext cx="5971032" cy="292608"/>
          </a:xfrm>
          <a:prstGeom prst="rect">
            <a:avLst/>
          </a:prstGeom>
          <a:noFill/>
        </p:spPr>
        <p:txBody>
          <a:bodyPr wrap="square">
            <a:spAutoFit/>
          </a:bodyPr>
          <a:lstStyle/>
          <a:p>
            <a:pPr algn="l"/>
            <a:r>
              <a:rPr sz="1000" b="1" i="0">
                <a:solidFill>
                  <a:srgbClr val="F6F1E6"/>
                </a:solidFill>
                <a:latin typeface="Calibri"/>
                <a:ea typeface="Calibri"/>
                <a:cs typeface="Calibri"/>
              </a:rPr>
              <a:t>What hits you</a:t>
            </a:r>
          </a:p>
        </p:txBody>
      </p:sp>
      <p:sp>
        <p:nvSpPr>
          <p:cNvPr id="14" name="Rectangle 13"/>
          <p:cNvSpPr/>
          <p:nvPr/>
        </p:nvSpPr>
        <p:spPr>
          <a:xfrm>
            <a:off x="502920" y="1764792"/>
            <a:ext cx="28803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1801368"/>
            <a:ext cx="2770632" cy="566928"/>
          </a:xfrm>
          <a:prstGeom prst="rect">
            <a:avLst/>
          </a:prstGeom>
          <a:noFill/>
        </p:spPr>
        <p:txBody>
          <a:bodyPr wrap="square">
            <a:spAutoFit/>
          </a:bodyPr>
          <a:lstStyle/>
          <a:p>
            <a:pPr algn="l"/>
            <a:r>
              <a:rPr sz="1100" b="0" i="0">
                <a:solidFill>
                  <a:srgbClr val="14201B"/>
                </a:solidFill>
                <a:latin typeface="Calibri"/>
                <a:ea typeface="Calibri"/>
                <a:cs typeface="Calibri"/>
              </a:rPr>
              <a:t>File on time and stay truthful</a:t>
            </a:r>
          </a:p>
        </p:txBody>
      </p:sp>
      <p:sp>
        <p:nvSpPr>
          <p:cNvPr id="16" name="Rectangle 15"/>
          <p:cNvSpPr/>
          <p:nvPr/>
        </p:nvSpPr>
        <p:spPr>
          <a:xfrm>
            <a:off x="3383280" y="1764792"/>
            <a:ext cx="21945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56432" y="1801368"/>
            <a:ext cx="2084832" cy="566928"/>
          </a:xfrm>
          <a:prstGeom prst="rect">
            <a:avLst/>
          </a:prstGeom>
          <a:noFill/>
        </p:spPr>
        <p:txBody>
          <a:bodyPr wrap="square">
            <a:spAutoFit/>
          </a:bodyPr>
          <a:lstStyle/>
          <a:p>
            <a:pPr algn="l"/>
            <a:r>
              <a:rPr sz="1100" b="1" i="0">
                <a:solidFill>
                  <a:srgbClr val="14201B"/>
                </a:solidFill>
                <a:latin typeface="Calibri"/>
                <a:ea typeface="Calibri"/>
                <a:cs typeface="Calibri"/>
              </a:rPr>
              <a:t>Active filer (ATL)</a:t>
            </a:r>
          </a:p>
        </p:txBody>
      </p:sp>
      <p:sp>
        <p:nvSpPr>
          <p:cNvPr id="18" name="Rectangle 17"/>
          <p:cNvSpPr/>
          <p:nvPr/>
        </p:nvSpPr>
        <p:spPr>
          <a:xfrm>
            <a:off x="5577840" y="1764792"/>
            <a:ext cx="60807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50992" y="1801368"/>
            <a:ext cx="5971032" cy="566928"/>
          </a:xfrm>
          <a:prstGeom prst="rect">
            <a:avLst/>
          </a:prstGeom>
          <a:noFill/>
        </p:spPr>
        <p:txBody>
          <a:bodyPr wrap="square">
            <a:spAutoFit/>
          </a:bodyPr>
          <a:lstStyle/>
          <a:p>
            <a:pPr algn="l"/>
            <a:r>
              <a:rPr sz="1100" b="0" i="0">
                <a:solidFill>
                  <a:srgbClr val="14201B"/>
                </a:solidFill>
                <a:latin typeface="Calibri"/>
                <a:ea typeface="Calibri"/>
                <a:cs typeface="Calibri"/>
              </a:rPr>
              <a:t>Lowest withholding; refunds allowed; full economic access; still must keep books.</a:t>
            </a:r>
          </a:p>
        </p:txBody>
      </p:sp>
      <p:sp>
        <p:nvSpPr>
          <p:cNvPr id="20" name="Rectangle 19"/>
          <p:cNvSpPr/>
          <p:nvPr/>
        </p:nvSpPr>
        <p:spPr>
          <a:xfrm>
            <a:off x="502920" y="2386584"/>
            <a:ext cx="28803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2423160"/>
            <a:ext cx="2770632" cy="566928"/>
          </a:xfrm>
          <a:prstGeom prst="rect">
            <a:avLst/>
          </a:prstGeom>
          <a:noFill/>
        </p:spPr>
        <p:txBody>
          <a:bodyPr wrap="square">
            <a:spAutoFit/>
          </a:bodyPr>
          <a:lstStyle/>
          <a:p>
            <a:pPr algn="l"/>
            <a:r>
              <a:rPr sz="1100" b="0" i="0">
                <a:solidFill>
                  <a:srgbClr val="14201B"/>
                </a:solidFill>
                <a:latin typeface="Calibri"/>
                <a:ea typeface="Calibri"/>
                <a:cs typeface="Calibri"/>
              </a:rPr>
              <a:t>File after the deadline</a:t>
            </a:r>
          </a:p>
        </p:txBody>
      </p:sp>
      <p:sp>
        <p:nvSpPr>
          <p:cNvPr id="22" name="Rectangle 21"/>
          <p:cNvSpPr/>
          <p:nvPr/>
        </p:nvSpPr>
        <p:spPr>
          <a:xfrm>
            <a:off x="3383280" y="2386584"/>
            <a:ext cx="21945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56432" y="2423160"/>
            <a:ext cx="2084832" cy="566928"/>
          </a:xfrm>
          <a:prstGeom prst="rect">
            <a:avLst/>
          </a:prstGeom>
          <a:noFill/>
        </p:spPr>
        <p:txBody>
          <a:bodyPr wrap="square">
            <a:spAutoFit/>
          </a:bodyPr>
          <a:lstStyle/>
          <a:p>
            <a:pPr algn="l"/>
            <a:r>
              <a:rPr sz="1100" b="1" i="0">
                <a:solidFill>
                  <a:srgbClr val="14201B"/>
                </a:solidFill>
                <a:latin typeface="Calibri"/>
                <a:ea typeface="Calibri"/>
                <a:cs typeface="Calibri"/>
              </a:rPr>
              <a:t>Late filer</a:t>
            </a:r>
          </a:p>
        </p:txBody>
      </p:sp>
      <p:sp>
        <p:nvSpPr>
          <p:cNvPr id="24" name="Rectangle 23"/>
          <p:cNvSpPr/>
          <p:nvPr/>
        </p:nvSpPr>
        <p:spPr>
          <a:xfrm>
            <a:off x="5577840" y="2386584"/>
            <a:ext cx="60807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50992" y="2423160"/>
            <a:ext cx="5971032" cy="566928"/>
          </a:xfrm>
          <a:prstGeom prst="rect">
            <a:avLst/>
          </a:prstGeom>
          <a:noFill/>
        </p:spPr>
        <p:txBody>
          <a:bodyPr wrap="square">
            <a:spAutoFit/>
          </a:bodyPr>
          <a:lstStyle/>
          <a:p>
            <a:pPr algn="l"/>
            <a:r>
              <a:rPr sz="1100" b="0" i="0">
                <a:solidFill>
                  <a:srgbClr val="14201B"/>
                </a:solidFill>
                <a:latin typeface="Calibri"/>
                <a:ea typeface="Calibri"/>
                <a:cs typeface="Calibri"/>
              </a:rPr>
              <a:t>Daily penalty (Finance Bill 2026 proposed sharp increases, including Rs 2,000/day in some sales-tax cases). ATL surcharge to return to the list (Rs 25,000 for individuals, 2026-27).</a:t>
            </a:r>
          </a:p>
        </p:txBody>
      </p:sp>
      <p:sp>
        <p:nvSpPr>
          <p:cNvPr id="26" name="Rectangle 25"/>
          <p:cNvSpPr/>
          <p:nvPr/>
        </p:nvSpPr>
        <p:spPr>
          <a:xfrm>
            <a:off x="502920" y="3008376"/>
            <a:ext cx="28803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72" y="3044952"/>
            <a:ext cx="2770632" cy="566928"/>
          </a:xfrm>
          <a:prstGeom prst="rect">
            <a:avLst/>
          </a:prstGeom>
          <a:noFill/>
        </p:spPr>
        <p:txBody>
          <a:bodyPr wrap="square">
            <a:spAutoFit/>
          </a:bodyPr>
          <a:lstStyle/>
          <a:p>
            <a:pPr algn="l"/>
            <a:r>
              <a:rPr sz="1100" b="0" i="0">
                <a:solidFill>
                  <a:srgbClr val="14201B"/>
                </a:solidFill>
                <a:latin typeface="Calibri"/>
                <a:ea typeface="Calibri"/>
                <a:cs typeface="Calibri"/>
              </a:rPr>
              <a:t>Never file</a:t>
            </a:r>
          </a:p>
        </p:txBody>
      </p:sp>
      <p:sp>
        <p:nvSpPr>
          <p:cNvPr id="28" name="Rectangle 27"/>
          <p:cNvSpPr/>
          <p:nvPr/>
        </p:nvSpPr>
        <p:spPr>
          <a:xfrm>
            <a:off x="3383280" y="3008376"/>
            <a:ext cx="21945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56432" y="3044952"/>
            <a:ext cx="2084832" cy="566928"/>
          </a:xfrm>
          <a:prstGeom prst="rect">
            <a:avLst/>
          </a:prstGeom>
          <a:noFill/>
        </p:spPr>
        <p:txBody>
          <a:bodyPr wrap="square">
            <a:spAutoFit/>
          </a:bodyPr>
          <a:lstStyle/>
          <a:p>
            <a:pPr algn="l"/>
            <a:r>
              <a:rPr sz="1100" b="1" i="0">
                <a:solidFill>
                  <a:srgbClr val="14201B"/>
                </a:solidFill>
                <a:latin typeface="Calibri"/>
                <a:ea typeface="Calibri"/>
                <a:cs typeface="Calibri"/>
              </a:rPr>
              <a:t>Non-filer</a:t>
            </a:r>
          </a:p>
        </p:txBody>
      </p:sp>
      <p:sp>
        <p:nvSpPr>
          <p:cNvPr id="30" name="Rectangle 29"/>
          <p:cNvSpPr/>
          <p:nvPr/>
        </p:nvSpPr>
        <p:spPr>
          <a:xfrm>
            <a:off x="5577840" y="3008376"/>
            <a:ext cx="60807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50992" y="3044952"/>
            <a:ext cx="5971032" cy="566928"/>
          </a:xfrm>
          <a:prstGeom prst="rect">
            <a:avLst/>
          </a:prstGeom>
          <a:noFill/>
        </p:spPr>
        <p:txBody>
          <a:bodyPr wrap="square">
            <a:spAutoFit/>
          </a:bodyPr>
          <a:lstStyle/>
          <a:p>
            <a:pPr algn="l"/>
            <a:r>
              <a:rPr sz="1100" b="0" i="0">
                <a:solidFill>
                  <a:srgbClr val="14201B"/>
                </a:solidFill>
                <a:latin typeface="Calibri"/>
                <a:ea typeface="Calibri"/>
                <a:cs typeface="Calibri"/>
              </a:rPr>
              <a:t>2–4× withholding on almost every documented transaction. New bank accounts largely blocked. No refund. Highest friction on property and vehicles.</a:t>
            </a:r>
          </a:p>
        </p:txBody>
      </p:sp>
      <p:sp>
        <p:nvSpPr>
          <p:cNvPr id="32" name="Rectangle 31"/>
          <p:cNvSpPr/>
          <p:nvPr/>
        </p:nvSpPr>
        <p:spPr>
          <a:xfrm>
            <a:off x="502920" y="3630168"/>
            <a:ext cx="28803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3666744"/>
            <a:ext cx="2770632" cy="566928"/>
          </a:xfrm>
          <a:prstGeom prst="rect">
            <a:avLst/>
          </a:prstGeom>
          <a:noFill/>
        </p:spPr>
        <p:txBody>
          <a:bodyPr wrap="square">
            <a:spAutoFit/>
          </a:bodyPr>
          <a:lstStyle/>
          <a:p>
            <a:pPr algn="l"/>
            <a:r>
              <a:rPr sz="1100" b="0" i="0">
                <a:solidFill>
                  <a:srgbClr val="14201B"/>
                </a:solidFill>
                <a:latin typeface="Calibri"/>
                <a:ea typeface="Calibri"/>
                <a:cs typeface="Calibri"/>
              </a:rPr>
              <a:t>Hide income or file false details</a:t>
            </a:r>
          </a:p>
        </p:txBody>
      </p:sp>
      <p:sp>
        <p:nvSpPr>
          <p:cNvPr id="34" name="Rectangle 33"/>
          <p:cNvSpPr/>
          <p:nvPr/>
        </p:nvSpPr>
        <p:spPr>
          <a:xfrm>
            <a:off x="3383280" y="3630168"/>
            <a:ext cx="21945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6432" y="3666744"/>
            <a:ext cx="2084832" cy="566928"/>
          </a:xfrm>
          <a:prstGeom prst="rect">
            <a:avLst/>
          </a:prstGeom>
          <a:noFill/>
        </p:spPr>
        <p:txBody>
          <a:bodyPr wrap="square">
            <a:spAutoFit/>
          </a:bodyPr>
          <a:lstStyle/>
          <a:p>
            <a:pPr algn="l"/>
            <a:r>
              <a:rPr sz="1100" b="1" i="0">
                <a:solidFill>
                  <a:srgbClr val="14201B"/>
                </a:solidFill>
                <a:latin typeface="Calibri"/>
                <a:ea typeface="Calibri"/>
                <a:cs typeface="Calibri"/>
              </a:rPr>
              <a:t>Evader</a:t>
            </a:r>
          </a:p>
        </p:txBody>
      </p:sp>
      <p:sp>
        <p:nvSpPr>
          <p:cNvPr id="36" name="Rectangle 35"/>
          <p:cNvSpPr/>
          <p:nvPr/>
        </p:nvSpPr>
        <p:spPr>
          <a:xfrm>
            <a:off x="5577840" y="3630168"/>
            <a:ext cx="60807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50992" y="3666744"/>
            <a:ext cx="5971032" cy="566928"/>
          </a:xfrm>
          <a:prstGeom prst="rect">
            <a:avLst/>
          </a:prstGeom>
          <a:noFill/>
        </p:spPr>
        <p:txBody>
          <a:bodyPr wrap="square">
            <a:spAutoFit/>
          </a:bodyPr>
          <a:lstStyle/>
          <a:p>
            <a:pPr algn="l"/>
            <a:r>
              <a:rPr sz="1100" b="0" i="0">
                <a:solidFill>
                  <a:srgbClr val="14201B"/>
                </a:solidFill>
                <a:latin typeface="Calibri"/>
                <a:ea typeface="Calibri"/>
                <a:cs typeface="Calibri"/>
              </a:rPr>
              <a:t>Penalty up to Rs 1,000,000 plus the tax evaded. Repeat behaviour can go higher. Criminal provisions remain available for tax fraud.</a:t>
            </a:r>
          </a:p>
        </p:txBody>
      </p:sp>
      <p:sp>
        <p:nvSpPr>
          <p:cNvPr id="38" name="Rectangle 37"/>
          <p:cNvSpPr/>
          <p:nvPr/>
        </p:nvSpPr>
        <p:spPr>
          <a:xfrm>
            <a:off x="502920" y="4251960"/>
            <a:ext cx="28803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6072" y="4288536"/>
            <a:ext cx="2770632" cy="566928"/>
          </a:xfrm>
          <a:prstGeom prst="rect">
            <a:avLst/>
          </a:prstGeom>
          <a:noFill/>
        </p:spPr>
        <p:txBody>
          <a:bodyPr wrap="square">
            <a:spAutoFit/>
          </a:bodyPr>
          <a:lstStyle/>
          <a:p>
            <a:pPr algn="l"/>
            <a:r>
              <a:rPr sz="1100" b="0" i="0">
                <a:solidFill>
                  <a:srgbClr val="14201B"/>
                </a:solidFill>
                <a:latin typeface="Calibri"/>
                <a:ea typeface="Calibri"/>
                <a:cs typeface="Calibri"/>
              </a:rPr>
              <a:t>Ignore audit notices / don’t withhold</a:t>
            </a:r>
          </a:p>
        </p:txBody>
      </p:sp>
      <p:sp>
        <p:nvSpPr>
          <p:cNvPr id="40" name="Rectangle 39"/>
          <p:cNvSpPr/>
          <p:nvPr/>
        </p:nvSpPr>
        <p:spPr>
          <a:xfrm>
            <a:off x="3383280" y="4251960"/>
            <a:ext cx="21945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56432" y="4288536"/>
            <a:ext cx="2084832" cy="566928"/>
          </a:xfrm>
          <a:prstGeom prst="rect">
            <a:avLst/>
          </a:prstGeom>
          <a:noFill/>
        </p:spPr>
        <p:txBody>
          <a:bodyPr wrap="square">
            <a:spAutoFit/>
          </a:bodyPr>
          <a:lstStyle/>
          <a:p>
            <a:pPr algn="l"/>
            <a:r>
              <a:rPr sz="1100" b="1" i="0">
                <a:solidFill>
                  <a:srgbClr val="14201B"/>
                </a:solidFill>
                <a:latin typeface="Calibri"/>
                <a:ea typeface="Calibri"/>
                <a:cs typeface="Calibri"/>
              </a:rPr>
              <a:t>Defaulter</a:t>
            </a:r>
          </a:p>
        </p:txBody>
      </p:sp>
      <p:sp>
        <p:nvSpPr>
          <p:cNvPr id="42" name="Rectangle 41"/>
          <p:cNvSpPr/>
          <p:nvPr/>
        </p:nvSpPr>
        <p:spPr>
          <a:xfrm>
            <a:off x="5577840" y="4251960"/>
            <a:ext cx="6080760" cy="621792"/>
          </a:xfrm>
          <a:prstGeom prst="rect">
            <a:avLst/>
          </a:prstGeom>
          <a:solidFill>
            <a:srgbClr val="EE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50992" y="4288536"/>
            <a:ext cx="5971032" cy="566928"/>
          </a:xfrm>
          <a:prstGeom prst="rect">
            <a:avLst/>
          </a:prstGeom>
          <a:noFill/>
        </p:spPr>
        <p:txBody>
          <a:bodyPr wrap="square">
            <a:spAutoFit/>
          </a:bodyPr>
          <a:lstStyle/>
          <a:p>
            <a:pPr algn="l"/>
            <a:r>
              <a:rPr sz="1100" b="0" i="0">
                <a:solidFill>
                  <a:srgbClr val="14201B"/>
                </a:solidFill>
                <a:latin typeface="Calibri"/>
                <a:ea typeface="Calibri"/>
                <a:cs typeface="Calibri"/>
              </a:rPr>
              <a:t>Record penalties Rs 100k–300k; withholding failure Rs 500,000; company principals personally Rs 500,000. Premises can be sealed after continued default.</a:t>
            </a:r>
          </a:p>
        </p:txBody>
      </p:sp>
      <p:sp>
        <p:nvSpPr>
          <p:cNvPr id="44" name="Rectangle 43"/>
          <p:cNvSpPr/>
          <p:nvPr/>
        </p:nvSpPr>
        <p:spPr>
          <a:xfrm>
            <a:off x="502920" y="4873752"/>
            <a:ext cx="28803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4910328"/>
            <a:ext cx="2770632" cy="566928"/>
          </a:xfrm>
          <a:prstGeom prst="rect">
            <a:avLst/>
          </a:prstGeom>
          <a:noFill/>
        </p:spPr>
        <p:txBody>
          <a:bodyPr wrap="square">
            <a:spAutoFit/>
          </a:bodyPr>
          <a:lstStyle/>
          <a:p>
            <a:pPr algn="l"/>
            <a:r>
              <a:rPr sz="1100" b="0" i="0">
                <a:solidFill>
                  <a:srgbClr val="14201B"/>
                </a:solidFill>
                <a:latin typeface="Calibri"/>
                <a:ea typeface="Calibri"/>
                <a:cs typeface="Calibri"/>
              </a:rPr>
              <a:t>Large lifestyle, no declared wealth</a:t>
            </a:r>
          </a:p>
        </p:txBody>
      </p:sp>
      <p:sp>
        <p:nvSpPr>
          <p:cNvPr id="46" name="Rectangle 45"/>
          <p:cNvSpPr/>
          <p:nvPr/>
        </p:nvSpPr>
        <p:spPr>
          <a:xfrm>
            <a:off x="3383280" y="4873752"/>
            <a:ext cx="21945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56432" y="4910328"/>
            <a:ext cx="2084832" cy="566928"/>
          </a:xfrm>
          <a:prstGeom prst="rect">
            <a:avLst/>
          </a:prstGeom>
          <a:noFill/>
        </p:spPr>
        <p:txBody>
          <a:bodyPr wrap="square">
            <a:spAutoFit/>
          </a:bodyPr>
          <a:lstStyle/>
          <a:p>
            <a:pPr algn="l"/>
            <a:r>
              <a:rPr sz="1100" b="1" i="0">
                <a:solidFill>
                  <a:srgbClr val="14201B"/>
                </a:solidFill>
                <a:latin typeface="Calibri"/>
                <a:ea typeface="Calibri"/>
                <a:cs typeface="Calibri"/>
              </a:rPr>
              <a:t>Ineligible (s.114C)</a:t>
            </a:r>
          </a:p>
        </p:txBody>
      </p:sp>
      <p:sp>
        <p:nvSpPr>
          <p:cNvPr id="48" name="Rectangle 47"/>
          <p:cNvSpPr/>
          <p:nvPr/>
        </p:nvSpPr>
        <p:spPr>
          <a:xfrm>
            <a:off x="5577840" y="4873752"/>
            <a:ext cx="6080760" cy="621792"/>
          </a:xfrm>
          <a:prstGeom prst="rect">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50992" y="4910328"/>
            <a:ext cx="5971032" cy="566928"/>
          </a:xfrm>
          <a:prstGeom prst="rect">
            <a:avLst/>
          </a:prstGeom>
          <a:noFill/>
        </p:spPr>
        <p:txBody>
          <a:bodyPr wrap="square">
            <a:spAutoFit/>
          </a:bodyPr>
          <a:lstStyle/>
          <a:p>
            <a:pPr algn="l"/>
            <a:r>
              <a:rPr sz="1100" b="0" i="0">
                <a:solidFill>
                  <a:srgbClr val="14201B"/>
                </a:solidFill>
                <a:latin typeface="Calibri"/>
                <a:ea typeface="Calibri"/>
                <a:cs typeface="Calibri"/>
              </a:rPr>
              <a:t>Once notified: cannot book a car above Rs 7m, a house above Rs 50m FMV, commercial property above Rs 100m, heavy securities, or pull Rs 100m+ cash in a year without 130% declared resources.</a:t>
            </a:r>
          </a:p>
        </p:txBody>
      </p:sp>
      <p:sp>
        <p:nvSpPr>
          <p:cNvPr id="50" name="TextBox 49"/>
          <p:cNvSpPr txBox="1"/>
          <p:nvPr/>
        </p:nvSpPr>
        <p:spPr>
          <a:xfrm>
            <a:off x="502920" y="5989320"/>
            <a:ext cx="11155680" cy="457200"/>
          </a:xfrm>
          <a:prstGeom prst="rect">
            <a:avLst/>
          </a:prstGeom>
          <a:noFill/>
        </p:spPr>
        <p:txBody>
          <a:bodyPr wrap="square">
            <a:spAutoFit/>
          </a:bodyPr>
          <a:lstStyle/>
          <a:p>
            <a:pPr algn="l"/>
            <a:r>
              <a:rPr sz="1100" b="0" i="1">
                <a:solidFill>
                  <a:srgbClr val="5C6B64"/>
                </a:solidFill>
                <a:latin typeface="Calibri"/>
                <a:ea typeface="Calibri"/>
                <a:cs typeface="Calibri"/>
              </a:rPr>
              <a:t>Note: Section 114C is in the Income Tax Ordinance (Finance Act 2025) but, as of August 2026 reporting, the federal gazette date and operational rules were still pending. Withholding and ATL disadvantages already apply.</a:t>
            </a:r>
          </a:p>
        </p:txBody>
      </p:sp>
      <p:sp>
        <p:nvSpPr>
          <p:cNvPr id="51" name="TextBox 50"/>
          <p:cNvSpPr txBox="1"/>
          <p:nvPr/>
        </p:nvSpPr>
        <p:spPr>
          <a:xfrm>
            <a:off x="502920" y="6510528"/>
            <a:ext cx="7772400" cy="256032"/>
          </a:xfrm>
          <a:prstGeom prst="rect">
            <a:avLst/>
          </a:prstGeom>
          <a:noFill/>
        </p:spPr>
        <p:txBody>
          <a:bodyPr wrap="square">
            <a:spAutoFit/>
          </a:bodyPr>
          <a:lstStyle/>
          <a:p>
            <a:pPr algn="l"/>
            <a:r>
              <a:rPr sz="1000" b="0" i="0">
                <a:solidFill>
                  <a:srgbClr val="5C6B64"/>
                </a:solidFill>
                <a:latin typeface="Calibri"/>
                <a:ea typeface="Calibri"/>
                <a:cs typeface="Calibri"/>
              </a:rPr>
              <a:t>Finance Bill 2026  ·  Income Tax Ordinance 2001  ·  FBR ATL rules</a:t>
            </a:r>
          </a:p>
        </p:txBody>
      </p:sp>
      <p:sp>
        <p:nvSpPr>
          <p:cNvPr id="52" name="TextBox 51"/>
          <p:cNvSpPr txBox="1"/>
          <p:nvPr/>
        </p:nvSpPr>
        <p:spPr>
          <a:xfrm>
            <a:off x="8412480" y="6510528"/>
            <a:ext cx="3246120" cy="256032"/>
          </a:xfrm>
          <a:prstGeom prst="rect">
            <a:avLst/>
          </a:prstGeom>
          <a:noFill/>
        </p:spPr>
        <p:txBody>
          <a:bodyPr wrap="square">
            <a:spAutoFit/>
          </a:bodyPr>
          <a:lstStyle/>
          <a:p>
            <a:pPr algn="r"/>
            <a:r>
              <a:rPr sz="1000" b="0" i="0">
                <a:solidFill>
                  <a:srgbClr val="5C6B64"/>
                </a:solidFill>
                <a:latin typeface="Calibri"/>
                <a:ea typeface="Calibri"/>
                <a:cs typeface="Calibri"/>
              </a:rPr>
              <a:t>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292608"/>
          </a:xfrm>
          <a:prstGeom prst="rect">
            <a:avLst/>
          </a:prstGeom>
          <a:noFill/>
        </p:spPr>
        <p:txBody>
          <a:bodyPr wrap="square">
            <a:spAutoFit/>
          </a:bodyPr>
          <a:lstStyle/>
          <a:p>
            <a:pPr algn="l"/>
            <a:r>
              <a:rPr sz="1100" b="1" i="0">
                <a:solidFill>
                  <a:srgbClr val="E8D48B"/>
                </a:solidFill>
                <a:latin typeface="Calibri"/>
                <a:ea typeface="Calibri"/>
                <a:cs typeface="Calibri"/>
              </a:rPr>
              <a:t>08  —  COST OF NOT DOING THIS</a:t>
            </a:r>
          </a:p>
        </p:txBody>
      </p:sp>
      <p:sp>
        <p:nvSpPr>
          <p:cNvPr id="5" name="TextBox 4"/>
          <p:cNvSpPr txBox="1"/>
          <p:nvPr/>
        </p:nvSpPr>
        <p:spPr>
          <a:xfrm>
            <a:off x="502920" y="566928"/>
            <a:ext cx="11155680" cy="640080"/>
          </a:xfrm>
          <a:prstGeom prst="rect">
            <a:avLst/>
          </a:prstGeom>
          <a:noFill/>
        </p:spPr>
        <p:txBody>
          <a:bodyPr wrap="square">
            <a:spAutoFit/>
          </a:bodyPr>
          <a:lstStyle/>
          <a:p>
            <a:pPr algn="l"/>
            <a:r>
              <a:rPr sz="2800" b="1" i="0">
                <a:solidFill>
                  <a:srgbClr val="F6F1E6"/>
                </a:solidFill>
                <a:latin typeface="Georgia"/>
                <a:ea typeface="Georgia"/>
                <a:cs typeface="Georgia"/>
              </a:rPr>
              <a:t>Problems we are already facing by not doing this</a:t>
            </a:r>
          </a:p>
        </p:txBody>
      </p:sp>
      <p:sp>
        <p:nvSpPr>
          <p:cNvPr id="6" name="Rectangle 5"/>
          <p:cNvSpPr/>
          <p:nvPr/>
        </p:nvSpPr>
        <p:spPr>
          <a:xfrm>
            <a:off x="502920" y="128016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11480" y="1508760"/>
            <a:ext cx="3749039" cy="2194560"/>
          </a:xfrm>
          <a:prstGeom prst="roundRect">
            <a:avLst>
              <a:gd name="adj" fmla="val 8000"/>
            </a:avLst>
          </a:prstGeom>
          <a:solidFill>
            <a:srgbClr val="0F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18488"/>
            <a:ext cx="3383280" cy="411480"/>
          </a:xfrm>
          <a:prstGeom prst="rect">
            <a:avLst/>
          </a:prstGeom>
          <a:noFill/>
        </p:spPr>
        <p:txBody>
          <a:bodyPr wrap="square">
            <a:spAutoFit/>
          </a:bodyPr>
          <a:lstStyle/>
          <a:p>
            <a:pPr algn="l"/>
            <a:r>
              <a:rPr sz="2200" b="1" i="0">
                <a:solidFill>
                  <a:srgbClr val="C9A227"/>
                </a:solidFill>
                <a:latin typeface="Georgia"/>
                <a:ea typeface="Georgia"/>
                <a:cs typeface="Georgia"/>
              </a:rPr>
              <a:t>01</a:t>
            </a:r>
          </a:p>
        </p:txBody>
      </p:sp>
      <p:sp>
        <p:nvSpPr>
          <p:cNvPr id="9" name="TextBox 8"/>
          <p:cNvSpPr txBox="1"/>
          <p:nvPr/>
        </p:nvSpPr>
        <p:spPr>
          <a:xfrm>
            <a:off x="594360" y="2011680"/>
            <a:ext cx="3383280" cy="502920"/>
          </a:xfrm>
          <a:prstGeom prst="rect">
            <a:avLst/>
          </a:prstGeom>
          <a:noFill/>
        </p:spPr>
        <p:txBody>
          <a:bodyPr wrap="square">
            <a:spAutoFit/>
          </a:bodyPr>
          <a:lstStyle/>
          <a:p>
            <a:pPr algn="l"/>
            <a:r>
              <a:rPr sz="1500" b="1" i="0">
                <a:solidFill>
                  <a:srgbClr val="F6F1E6"/>
                </a:solidFill>
                <a:latin typeface="Georgia"/>
                <a:ea typeface="Georgia"/>
                <a:cs typeface="Georgia"/>
              </a:rPr>
              <a:t>A state that cannot pay for itself</a:t>
            </a:r>
          </a:p>
        </p:txBody>
      </p:sp>
      <p:sp>
        <p:nvSpPr>
          <p:cNvPr id="10" name="TextBox 9"/>
          <p:cNvSpPr txBox="1"/>
          <p:nvPr/>
        </p:nvSpPr>
        <p:spPr>
          <a:xfrm>
            <a:off x="594360" y="2560320"/>
            <a:ext cx="3383280" cy="1005840"/>
          </a:xfrm>
          <a:prstGeom prst="rect">
            <a:avLst/>
          </a:prstGeom>
          <a:noFill/>
        </p:spPr>
        <p:txBody>
          <a:bodyPr wrap="square">
            <a:spAutoFit/>
          </a:bodyPr>
          <a:lstStyle/>
          <a:p>
            <a:pPr algn="l"/>
            <a:r>
              <a:rPr sz="1200" b="0" i="0">
                <a:solidFill>
                  <a:srgbClr val="E8D48B"/>
                </a:solidFill>
                <a:latin typeface="Calibri"/>
                <a:ea typeface="Calibri"/>
                <a:cs typeface="Calibri"/>
              </a:rPr>
              <a:t>Interest on old debt eats the budget. Development is residual. We borrow to run the government because too few people are on the books.</a:t>
            </a:r>
          </a:p>
        </p:txBody>
      </p:sp>
      <p:sp>
        <p:nvSpPr>
          <p:cNvPr id="11" name="Rounded Rectangle 10"/>
          <p:cNvSpPr/>
          <p:nvPr/>
        </p:nvSpPr>
        <p:spPr>
          <a:xfrm>
            <a:off x="4297680" y="1508760"/>
            <a:ext cx="3749039" cy="2194560"/>
          </a:xfrm>
          <a:prstGeom prst="roundRect">
            <a:avLst>
              <a:gd name="adj" fmla="val 8000"/>
            </a:avLst>
          </a:prstGeom>
          <a:solidFill>
            <a:srgbClr val="0F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618488"/>
            <a:ext cx="3383280" cy="411480"/>
          </a:xfrm>
          <a:prstGeom prst="rect">
            <a:avLst/>
          </a:prstGeom>
          <a:noFill/>
        </p:spPr>
        <p:txBody>
          <a:bodyPr wrap="square">
            <a:spAutoFit/>
          </a:bodyPr>
          <a:lstStyle/>
          <a:p>
            <a:pPr algn="l"/>
            <a:r>
              <a:rPr sz="2200" b="1" i="0">
                <a:solidFill>
                  <a:srgbClr val="C9A227"/>
                </a:solidFill>
                <a:latin typeface="Georgia"/>
                <a:ea typeface="Georgia"/>
                <a:cs typeface="Georgia"/>
              </a:rPr>
              <a:t>02</a:t>
            </a:r>
          </a:p>
        </p:txBody>
      </p:sp>
      <p:sp>
        <p:nvSpPr>
          <p:cNvPr id="13" name="TextBox 12"/>
          <p:cNvSpPr txBox="1"/>
          <p:nvPr/>
        </p:nvSpPr>
        <p:spPr>
          <a:xfrm>
            <a:off x="4480560" y="2011680"/>
            <a:ext cx="3383280" cy="502920"/>
          </a:xfrm>
          <a:prstGeom prst="rect">
            <a:avLst/>
          </a:prstGeom>
          <a:noFill/>
        </p:spPr>
        <p:txBody>
          <a:bodyPr wrap="square">
            <a:spAutoFit/>
          </a:bodyPr>
          <a:lstStyle/>
          <a:p>
            <a:pPr algn="l"/>
            <a:r>
              <a:rPr sz="1500" b="1" i="0">
                <a:solidFill>
                  <a:srgbClr val="F6F1E6"/>
                </a:solidFill>
                <a:latin typeface="Georgia"/>
                <a:ea typeface="Georgia"/>
                <a:cs typeface="Georgia"/>
              </a:rPr>
              <a:t>The salaried class as a hostage</a:t>
            </a:r>
          </a:p>
        </p:txBody>
      </p:sp>
      <p:sp>
        <p:nvSpPr>
          <p:cNvPr id="14" name="TextBox 13"/>
          <p:cNvSpPr txBox="1"/>
          <p:nvPr/>
        </p:nvSpPr>
        <p:spPr>
          <a:xfrm>
            <a:off x="4480560" y="2560320"/>
            <a:ext cx="3383280" cy="1005840"/>
          </a:xfrm>
          <a:prstGeom prst="rect">
            <a:avLst/>
          </a:prstGeom>
          <a:noFill/>
        </p:spPr>
        <p:txBody>
          <a:bodyPr wrap="square">
            <a:spAutoFit/>
          </a:bodyPr>
          <a:lstStyle/>
          <a:p>
            <a:pPr algn="l"/>
            <a:r>
              <a:rPr sz="1200" b="0" i="0">
                <a:solidFill>
                  <a:srgbClr val="E8D48B"/>
                </a:solidFill>
                <a:latin typeface="Calibri"/>
                <a:ea typeface="Calibri"/>
                <a:cs typeface="Calibri"/>
              </a:rPr>
              <a:t>Tax is deducted from the salary slip before the employee sees it. Retail, wholesale, real-estate flipping and cash professions often pay nothing comparable.</a:t>
            </a:r>
          </a:p>
        </p:txBody>
      </p:sp>
      <p:sp>
        <p:nvSpPr>
          <p:cNvPr id="15" name="Rounded Rectangle 14"/>
          <p:cNvSpPr/>
          <p:nvPr/>
        </p:nvSpPr>
        <p:spPr>
          <a:xfrm>
            <a:off x="8183880" y="1508760"/>
            <a:ext cx="3749039" cy="2194560"/>
          </a:xfrm>
          <a:prstGeom prst="roundRect">
            <a:avLst>
              <a:gd name="adj" fmla="val 8000"/>
            </a:avLst>
          </a:prstGeom>
          <a:solidFill>
            <a:srgbClr val="0F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618488"/>
            <a:ext cx="3383280" cy="411480"/>
          </a:xfrm>
          <a:prstGeom prst="rect">
            <a:avLst/>
          </a:prstGeom>
          <a:noFill/>
        </p:spPr>
        <p:txBody>
          <a:bodyPr wrap="square">
            <a:spAutoFit/>
          </a:bodyPr>
          <a:lstStyle/>
          <a:p>
            <a:pPr algn="l"/>
            <a:r>
              <a:rPr sz="2200" b="1" i="0">
                <a:solidFill>
                  <a:srgbClr val="C9A227"/>
                </a:solidFill>
                <a:latin typeface="Georgia"/>
                <a:ea typeface="Georgia"/>
                <a:cs typeface="Georgia"/>
              </a:rPr>
              <a:t>03</a:t>
            </a:r>
          </a:p>
        </p:txBody>
      </p:sp>
      <p:sp>
        <p:nvSpPr>
          <p:cNvPr id="17" name="TextBox 16"/>
          <p:cNvSpPr txBox="1"/>
          <p:nvPr/>
        </p:nvSpPr>
        <p:spPr>
          <a:xfrm>
            <a:off x="8366760" y="2011680"/>
            <a:ext cx="3383280" cy="502920"/>
          </a:xfrm>
          <a:prstGeom prst="rect">
            <a:avLst/>
          </a:prstGeom>
          <a:noFill/>
        </p:spPr>
        <p:txBody>
          <a:bodyPr wrap="square">
            <a:spAutoFit/>
          </a:bodyPr>
          <a:lstStyle/>
          <a:p>
            <a:pPr algn="l"/>
            <a:r>
              <a:rPr sz="1500" b="1" i="0">
                <a:solidFill>
                  <a:srgbClr val="F6F1E6"/>
                </a:solidFill>
                <a:latin typeface="Georgia"/>
                <a:ea typeface="Georgia"/>
                <a:cs typeface="Georgia"/>
              </a:rPr>
              <a:t>Fake competition</a:t>
            </a:r>
          </a:p>
        </p:txBody>
      </p:sp>
      <p:sp>
        <p:nvSpPr>
          <p:cNvPr id="18" name="TextBox 17"/>
          <p:cNvSpPr txBox="1"/>
          <p:nvPr/>
        </p:nvSpPr>
        <p:spPr>
          <a:xfrm>
            <a:off x="8366760" y="2560320"/>
            <a:ext cx="3383280" cy="1005840"/>
          </a:xfrm>
          <a:prstGeom prst="rect">
            <a:avLst/>
          </a:prstGeom>
          <a:noFill/>
        </p:spPr>
        <p:txBody>
          <a:bodyPr wrap="square">
            <a:spAutoFit/>
          </a:bodyPr>
          <a:lstStyle/>
          <a:p>
            <a:pPr algn="l"/>
            <a:r>
              <a:rPr sz="1200" b="0" i="0">
                <a:solidFill>
                  <a:srgbClr val="E8D48B"/>
                </a:solidFill>
                <a:latin typeface="Calibri"/>
                <a:ea typeface="Calibri"/>
                <a:cs typeface="Calibri"/>
              </a:rPr>
              <a:t>A documented factory paying payroll, GST and industrial power cannot beat a cash competitor. Industry thins out. Jobs that should exist never appear.</a:t>
            </a:r>
          </a:p>
        </p:txBody>
      </p:sp>
      <p:sp>
        <p:nvSpPr>
          <p:cNvPr id="19" name="Rounded Rectangle 18"/>
          <p:cNvSpPr/>
          <p:nvPr/>
        </p:nvSpPr>
        <p:spPr>
          <a:xfrm>
            <a:off x="411480" y="3840480"/>
            <a:ext cx="3749039" cy="2194560"/>
          </a:xfrm>
          <a:prstGeom prst="roundRect">
            <a:avLst>
              <a:gd name="adj" fmla="val 8000"/>
            </a:avLst>
          </a:prstGeom>
          <a:solidFill>
            <a:srgbClr val="0F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950208"/>
            <a:ext cx="3383280" cy="411480"/>
          </a:xfrm>
          <a:prstGeom prst="rect">
            <a:avLst/>
          </a:prstGeom>
          <a:noFill/>
        </p:spPr>
        <p:txBody>
          <a:bodyPr wrap="square">
            <a:spAutoFit/>
          </a:bodyPr>
          <a:lstStyle/>
          <a:p>
            <a:pPr algn="l"/>
            <a:r>
              <a:rPr sz="2200" b="1" i="0">
                <a:solidFill>
                  <a:srgbClr val="C9A227"/>
                </a:solidFill>
                <a:latin typeface="Georgia"/>
                <a:ea typeface="Georgia"/>
                <a:cs typeface="Georgia"/>
              </a:rPr>
              <a:t>04</a:t>
            </a:r>
          </a:p>
        </p:txBody>
      </p:sp>
      <p:sp>
        <p:nvSpPr>
          <p:cNvPr id="21" name="TextBox 20"/>
          <p:cNvSpPr txBox="1"/>
          <p:nvPr/>
        </p:nvSpPr>
        <p:spPr>
          <a:xfrm>
            <a:off x="594360" y="4343400"/>
            <a:ext cx="3383280" cy="502920"/>
          </a:xfrm>
          <a:prstGeom prst="rect">
            <a:avLst/>
          </a:prstGeom>
          <a:noFill/>
        </p:spPr>
        <p:txBody>
          <a:bodyPr wrap="square">
            <a:spAutoFit/>
          </a:bodyPr>
          <a:lstStyle/>
          <a:p>
            <a:pPr algn="l"/>
            <a:r>
              <a:rPr sz="1500" b="1" i="0">
                <a:solidFill>
                  <a:srgbClr val="F6F1E6"/>
                </a:solidFill>
                <a:latin typeface="Georgia"/>
                <a:ea typeface="Georgia"/>
                <a:cs typeface="Georgia"/>
              </a:rPr>
              <a:t>Black money has a home</a:t>
            </a:r>
          </a:p>
        </p:txBody>
      </p:sp>
      <p:sp>
        <p:nvSpPr>
          <p:cNvPr id="22" name="TextBox 21"/>
          <p:cNvSpPr txBox="1"/>
          <p:nvPr/>
        </p:nvSpPr>
        <p:spPr>
          <a:xfrm>
            <a:off x="594360" y="4892040"/>
            <a:ext cx="3383280" cy="1005840"/>
          </a:xfrm>
          <a:prstGeom prst="rect">
            <a:avLst/>
          </a:prstGeom>
          <a:noFill/>
        </p:spPr>
        <p:txBody>
          <a:bodyPr wrap="square">
            <a:spAutoFit/>
          </a:bodyPr>
          <a:lstStyle/>
          <a:p>
            <a:pPr algn="l"/>
            <a:r>
              <a:rPr sz="1200" b="0" i="0">
                <a:solidFill>
                  <a:srgbClr val="E8D48B"/>
                </a:solidFill>
                <a:latin typeface="Calibri"/>
                <a:ea typeface="Calibri"/>
                <a:cs typeface="Calibri"/>
              </a:rPr>
              <a:t>Undocumented plots, cash and under-invoiced imports are where corruption, smuggling and tax evasion hide. Without trails, courts and banks are guessing.</a:t>
            </a:r>
          </a:p>
        </p:txBody>
      </p:sp>
      <p:sp>
        <p:nvSpPr>
          <p:cNvPr id="23" name="Rounded Rectangle 22"/>
          <p:cNvSpPr/>
          <p:nvPr/>
        </p:nvSpPr>
        <p:spPr>
          <a:xfrm>
            <a:off x="4297680" y="3840480"/>
            <a:ext cx="3749039" cy="2194560"/>
          </a:xfrm>
          <a:prstGeom prst="roundRect">
            <a:avLst>
              <a:gd name="adj" fmla="val 8000"/>
            </a:avLst>
          </a:prstGeom>
          <a:solidFill>
            <a:srgbClr val="0F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3950208"/>
            <a:ext cx="3383280" cy="411480"/>
          </a:xfrm>
          <a:prstGeom prst="rect">
            <a:avLst/>
          </a:prstGeom>
          <a:noFill/>
        </p:spPr>
        <p:txBody>
          <a:bodyPr wrap="square">
            <a:spAutoFit/>
          </a:bodyPr>
          <a:lstStyle/>
          <a:p>
            <a:pPr algn="l"/>
            <a:r>
              <a:rPr sz="2200" b="1" i="0">
                <a:solidFill>
                  <a:srgbClr val="C9A227"/>
                </a:solidFill>
                <a:latin typeface="Georgia"/>
                <a:ea typeface="Georgia"/>
                <a:cs typeface="Georgia"/>
              </a:rPr>
              <a:t>05</a:t>
            </a:r>
          </a:p>
        </p:txBody>
      </p:sp>
      <p:sp>
        <p:nvSpPr>
          <p:cNvPr id="25" name="TextBox 24"/>
          <p:cNvSpPr txBox="1"/>
          <p:nvPr/>
        </p:nvSpPr>
        <p:spPr>
          <a:xfrm>
            <a:off x="4480560" y="4343400"/>
            <a:ext cx="3383280" cy="502920"/>
          </a:xfrm>
          <a:prstGeom prst="rect">
            <a:avLst/>
          </a:prstGeom>
          <a:noFill/>
        </p:spPr>
        <p:txBody>
          <a:bodyPr wrap="square">
            <a:spAutoFit/>
          </a:bodyPr>
          <a:lstStyle/>
          <a:p>
            <a:pPr algn="l"/>
            <a:r>
              <a:rPr sz="1500" b="1" i="0">
                <a:solidFill>
                  <a:srgbClr val="F6F1E6"/>
                </a:solidFill>
                <a:latin typeface="Georgia"/>
                <a:ea typeface="Georgia"/>
                <a:cs typeface="Georgia"/>
              </a:rPr>
              <a:t>No credit, no scale</a:t>
            </a:r>
          </a:p>
        </p:txBody>
      </p:sp>
      <p:sp>
        <p:nvSpPr>
          <p:cNvPr id="26" name="TextBox 25"/>
          <p:cNvSpPr txBox="1"/>
          <p:nvPr/>
        </p:nvSpPr>
        <p:spPr>
          <a:xfrm>
            <a:off x="4480560" y="4892040"/>
            <a:ext cx="3383280" cy="1005840"/>
          </a:xfrm>
          <a:prstGeom prst="rect">
            <a:avLst/>
          </a:prstGeom>
          <a:noFill/>
        </p:spPr>
        <p:txBody>
          <a:bodyPr wrap="square">
            <a:spAutoFit/>
          </a:bodyPr>
          <a:lstStyle/>
          <a:p>
            <a:pPr algn="l"/>
            <a:r>
              <a:rPr sz="1200" b="0" i="0">
                <a:solidFill>
                  <a:srgbClr val="E8D48B"/>
                </a:solidFill>
                <a:latin typeface="Calibri"/>
                <a:ea typeface="Calibri"/>
                <a:cs typeface="Calibri"/>
              </a:rPr>
              <a:t>Banks will not lend against a notebook in a drawer. Firms stay small, families stay informal, and the country stays a trading economy instead of a producing one.</a:t>
            </a:r>
          </a:p>
        </p:txBody>
      </p:sp>
      <p:sp>
        <p:nvSpPr>
          <p:cNvPr id="27" name="Rounded Rectangle 26"/>
          <p:cNvSpPr/>
          <p:nvPr/>
        </p:nvSpPr>
        <p:spPr>
          <a:xfrm>
            <a:off x="8183880" y="3840480"/>
            <a:ext cx="3749039" cy="2194560"/>
          </a:xfrm>
          <a:prstGeom prst="roundRect">
            <a:avLst>
              <a:gd name="adj" fmla="val 8000"/>
            </a:avLst>
          </a:prstGeom>
          <a:solidFill>
            <a:srgbClr val="0F2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60" y="3950208"/>
            <a:ext cx="3383280" cy="411480"/>
          </a:xfrm>
          <a:prstGeom prst="rect">
            <a:avLst/>
          </a:prstGeom>
          <a:noFill/>
        </p:spPr>
        <p:txBody>
          <a:bodyPr wrap="square">
            <a:spAutoFit/>
          </a:bodyPr>
          <a:lstStyle/>
          <a:p>
            <a:pPr algn="l"/>
            <a:r>
              <a:rPr sz="2200" b="1" i="0">
                <a:solidFill>
                  <a:srgbClr val="C9A227"/>
                </a:solidFill>
                <a:latin typeface="Georgia"/>
                <a:ea typeface="Georgia"/>
                <a:cs typeface="Georgia"/>
              </a:rPr>
              <a:t>06</a:t>
            </a:r>
          </a:p>
        </p:txBody>
      </p:sp>
      <p:sp>
        <p:nvSpPr>
          <p:cNvPr id="29" name="TextBox 28"/>
          <p:cNvSpPr txBox="1"/>
          <p:nvPr/>
        </p:nvSpPr>
        <p:spPr>
          <a:xfrm>
            <a:off x="8366760" y="4343400"/>
            <a:ext cx="3383280" cy="502920"/>
          </a:xfrm>
          <a:prstGeom prst="rect">
            <a:avLst/>
          </a:prstGeom>
          <a:noFill/>
        </p:spPr>
        <p:txBody>
          <a:bodyPr wrap="square">
            <a:spAutoFit/>
          </a:bodyPr>
          <a:lstStyle/>
          <a:p>
            <a:pPr algn="l"/>
            <a:r>
              <a:rPr sz="1500" b="1" i="0">
                <a:solidFill>
                  <a:srgbClr val="F6F1E6"/>
                </a:solidFill>
                <a:latin typeface="Georgia"/>
                <a:ea typeface="Georgia"/>
                <a:cs typeface="Georgia"/>
              </a:rPr>
              <a:t>Trust collapse</a:t>
            </a:r>
          </a:p>
        </p:txBody>
      </p:sp>
      <p:sp>
        <p:nvSpPr>
          <p:cNvPr id="30" name="TextBox 29"/>
          <p:cNvSpPr txBox="1"/>
          <p:nvPr/>
        </p:nvSpPr>
        <p:spPr>
          <a:xfrm>
            <a:off x="8366760" y="4892040"/>
            <a:ext cx="3383280" cy="1005840"/>
          </a:xfrm>
          <a:prstGeom prst="rect">
            <a:avLst/>
          </a:prstGeom>
          <a:noFill/>
        </p:spPr>
        <p:txBody>
          <a:bodyPr wrap="square">
            <a:spAutoFit/>
          </a:bodyPr>
          <a:lstStyle/>
          <a:p>
            <a:pPr algn="l"/>
            <a:r>
              <a:rPr sz="1200" b="0" i="0">
                <a:solidFill>
                  <a:srgbClr val="E8D48B"/>
                </a:solidFill>
                <a:latin typeface="Calibri"/>
                <a:ea typeface="Calibri"/>
                <a:cs typeface="Calibri"/>
              </a:rPr>
              <a:t>Citizens ask why they should pay if the elite does not. The state asks why it should improve service if nobody pays. Both are waiting. Both are wrong to wait.</a:t>
            </a:r>
          </a:p>
        </p:txBody>
      </p:sp>
      <p:sp>
        <p:nvSpPr>
          <p:cNvPr id="31" name="TextBox 30"/>
          <p:cNvSpPr txBox="1"/>
          <p:nvPr/>
        </p:nvSpPr>
        <p:spPr>
          <a:xfrm>
            <a:off x="502920" y="6510528"/>
            <a:ext cx="7772400" cy="256032"/>
          </a:xfrm>
          <a:prstGeom prst="rect">
            <a:avLst/>
          </a:prstGeom>
          <a:noFill/>
        </p:spPr>
        <p:txBody>
          <a:bodyPr wrap="square">
            <a:spAutoFit/>
          </a:bodyPr>
          <a:lstStyle/>
          <a:p>
            <a:pPr algn="l"/>
            <a:r>
              <a:rPr sz="1000" b="0" i="0">
                <a:solidFill>
                  <a:srgbClr val="A8B5AE"/>
                </a:solidFill>
                <a:latin typeface="Calibri"/>
                <a:ea typeface="Calibri"/>
                <a:cs typeface="Calibri"/>
              </a:rPr>
              <a:t>Not doing documentation is not neutral. It is a daily policy choice with victims.</a:t>
            </a:r>
          </a:p>
        </p:txBody>
      </p:sp>
      <p:sp>
        <p:nvSpPr>
          <p:cNvPr id="32" name="TextBox 31"/>
          <p:cNvSpPr txBox="1"/>
          <p:nvPr/>
        </p:nvSpPr>
        <p:spPr>
          <a:xfrm>
            <a:off x="8412480" y="6510528"/>
            <a:ext cx="3246120" cy="256032"/>
          </a:xfrm>
          <a:prstGeom prst="rect">
            <a:avLst/>
          </a:prstGeom>
          <a:noFill/>
        </p:spPr>
        <p:txBody>
          <a:bodyPr wrap="square">
            <a:spAutoFit/>
          </a:bodyPr>
          <a:lstStyle/>
          <a:p>
            <a:pPr algn="r"/>
            <a:r>
              <a:rPr sz="1000" b="0" i="0">
                <a:solidFill>
                  <a:srgbClr val="A8B5AE"/>
                </a:solidFill>
                <a:latin typeface="Calibri"/>
                <a:ea typeface="Calibri"/>
                <a:cs typeface="Calibri"/>
              </a:rPr>
              <a:t>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292608"/>
          </a:xfrm>
          <a:prstGeom prst="rect">
            <a:avLst/>
          </a:prstGeom>
          <a:noFill/>
        </p:spPr>
        <p:txBody>
          <a:bodyPr wrap="square">
            <a:spAutoFit/>
          </a:bodyPr>
          <a:lstStyle/>
          <a:p>
            <a:pPr algn="l"/>
            <a:r>
              <a:rPr sz="1100" b="1" i="0">
                <a:solidFill>
                  <a:srgbClr val="C9A227"/>
                </a:solidFill>
                <a:latin typeface="Calibri"/>
                <a:ea typeface="Calibri"/>
                <a:cs typeface="Calibri"/>
              </a:rPr>
              <a:t>09  —  FAIRNESS</a:t>
            </a:r>
          </a:p>
        </p:txBody>
      </p:sp>
      <p:sp>
        <p:nvSpPr>
          <p:cNvPr id="6" name="TextBox 5"/>
          <p:cNvSpPr txBox="1"/>
          <p:nvPr/>
        </p:nvSpPr>
        <p:spPr>
          <a:xfrm>
            <a:off x="502920" y="566928"/>
            <a:ext cx="11155680" cy="640080"/>
          </a:xfrm>
          <a:prstGeom prst="rect">
            <a:avLst/>
          </a:prstGeom>
          <a:noFill/>
        </p:spPr>
        <p:txBody>
          <a:bodyPr wrap="square">
            <a:spAutoFit/>
          </a:bodyPr>
          <a:lstStyle/>
          <a:p>
            <a:pPr algn="l"/>
            <a:r>
              <a:rPr sz="3000" b="1" i="0">
                <a:solidFill>
                  <a:srgbClr val="14201B"/>
                </a:solidFill>
                <a:latin typeface="Georgia"/>
                <a:ea typeface="Georgia"/>
                <a:cs typeface="Georgia"/>
              </a:rPr>
              <a:t>Who pays today — and who should</a:t>
            </a:r>
          </a:p>
        </p:txBody>
      </p:sp>
      <p:sp>
        <p:nvSpPr>
          <p:cNvPr id="7" name="Rectangle 6"/>
          <p:cNvSpPr/>
          <p:nvPr/>
        </p:nvSpPr>
        <p:spPr>
          <a:xfrm>
            <a:off x="502920" y="128016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54480"/>
            <a:ext cx="5486400" cy="3977639"/>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19072"/>
            <a:ext cx="5029200" cy="256032"/>
          </a:xfrm>
          <a:prstGeom prst="rect">
            <a:avLst/>
          </a:prstGeom>
          <a:noFill/>
        </p:spPr>
        <p:txBody>
          <a:bodyPr wrap="square">
            <a:spAutoFit/>
          </a:bodyPr>
          <a:lstStyle/>
          <a:p>
            <a:pPr algn="l"/>
            <a:r>
              <a:rPr sz="1200" b="1" i="0">
                <a:solidFill>
                  <a:srgbClr val="C9A227"/>
                </a:solidFill>
                <a:latin typeface="Calibri"/>
                <a:ea typeface="Calibri"/>
                <a:cs typeface="Calibri"/>
              </a:rPr>
              <a:t>OVER-DOCUMENTED</a:t>
            </a:r>
          </a:p>
        </p:txBody>
      </p:sp>
      <p:sp>
        <p:nvSpPr>
          <p:cNvPr id="10" name="TextBox 9"/>
          <p:cNvSpPr txBox="1"/>
          <p:nvPr/>
        </p:nvSpPr>
        <p:spPr>
          <a:xfrm>
            <a:off x="731520" y="2011680"/>
            <a:ext cx="5029200" cy="640080"/>
          </a:xfrm>
          <a:prstGeom prst="rect">
            <a:avLst/>
          </a:prstGeom>
          <a:noFill/>
        </p:spPr>
        <p:txBody>
          <a:bodyPr wrap="square">
            <a:spAutoFit/>
          </a:bodyPr>
          <a:lstStyle/>
          <a:p>
            <a:pPr algn="l"/>
            <a:r>
              <a:rPr sz="1600" b="1" i="0">
                <a:solidFill>
                  <a:srgbClr val="14201B"/>
                </a:solidFill>
                <a:latin typeface="Georgia"/>
                <a:ea typeface="Georgia"/>
                <a:cs typeface="Georgia"/>
              </a:rPr>
              <a:t>Salaried employees, large companies, importers at the port, formal banks</a:t>
            </a:r>
          </a:p>
        </p:txBody>
      </p:sp>
      <p:sp>
        <p:nvSpPr>
          <p:cNvPr id="11" name="TextBox 10"/>
          <p:cNvSpPr txBox="1"/>
          <p:nvPr/>
        </p:nvSpPr>
        <p:spPr>
          <a:xfrm>
            <a:off x="731520" y="2788920"/>
            <a:ext cx="5029200" cy="2377440"/>
          </a:xfrm>
          <a:prstGeom prst="rect">
            <a:avLst/>
          </a:prstGeom>
          <a:noFill/>
        </p:spPr>
        <p:txBody>
          <a:bodyPr wrap="square">
            <a:spAutoFit/>
          </a:bodyPr>
          <a:lstStyle/>
          <a:p>
            <a:pPr>
              <a:spcAft>
                <a:spcPts val="800"/>
              </a:spcAft>
            </a:pPr>
            <a:r>
              <a:rPr sz="1500" b="0" i="0">
                <a:solidFill>
                  <a:srgbClr val="14201B"/>
                </a:solidFill>
                <a:latin typeface="Calibri"/>
                <a:ea typeface="Calibri"/>
                <a:cs typeface="Calibri"/>
              </a:rPr>
              <a:t>•  Cannot hide: withholding is automatic.</a:t>
            </a:r>
          </a:p>
          <a:p>
            <a:pPr>
              <a:spcAft>
                <a:spcPts val="800"/>
              </a:spcAft>
            </a:pPr>
            <a:r>
              <a:rPr sz="1500" b="0" i="0">
                <a:solidFill>
                  <a:srgbClr val="14201B"/>
                </a:solidFill>
                <a:latin typeface="Calibri"/>
                <a:ea typeface="Calibri"/>
                <a:cs typeface="Calibri"/>
              </a:rPr>
              <a:t>•  Face audits, payroll tax, sales tax and rising rates whenever the deficit yawns.</a:t>
            </a:r>
          </a:p>
          <a:p>
            <a:pPr>
              <a:spcAft>
                <a:spcPts val="800"/>
              </a:spcAft>
            </a:pPr>
            <a:r>
              <a:rPr sz="1500" b="0" i="0">
                <a:solidFill>
                  <a:srgbClr val="14201B"/>
                </a:solidFill>
                <a:latin typeface="Calibri"/>
                <a:ea typeface="Calibri"/>
                <a:cs typeface="Calibri"/>
              </a:rPr>
              <a:t>•  This is why “tax culture” speeches sound empty to a teacher or a software employee.</a:t>
            </a:r>
          </a:p>
        </p:txBody>
      </p:sp>
      <p:sp>
        <p:nvSpPr>
          <p:cNvPr id="12" name="Rounded Rectangle 11"/>
          <p:cNvSpPr/>
          <p:nvPr/>
        </p:nvSpPr>
        <p:spPr>
          <a:xfrm>
            <a:off x="6217920" y="1554480"/>
            <a:ext cx="5486400" cy="3977639"/>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719072"/>
            <a:ext cx="5029200" cy="256032"/>
          </a:xfrm>
          <a:prstGeom prst="rect">
            <a:avLst/>
          </a:prstGeom>
          <a:noFill/>
        </p:spPr>
        <p:txBody>
          <a:bodyPr wrap="square">
            <a:spAutoFit/>
          </a:bodyPr>
          <a:lstStyle/>
          <a:p>
            <a:pPr algn="l"/>
            <a:r>
              <a:rPr sz="1200" b="1" i="0">
                <a:solidFill>
                  <a:srgbClr val="C9A227"/>
                </a:solidFill>
                <a:latin typeface="Calibri"/>
                <a:ea typeface="Calibri"/>
                <a:cs typeface="Calibri"/>
              </a:rPr>
              <a:t>UNDER-DOCUMENTED</a:t>
            </a:r>
          </a:p>
        </p:txBody>
      </p:sp>
      <p:sp>
        <p:nvSpPr>
          <p:cNvPr id="14" name="TextBox 13"/>
          <p:cNvSpPr txBox="1"/>
          <p:nvPr/>
        </p:nvSpPr>
        <p:spPr>
          <a:xfrm>
            <a:off x="6446520" y="2011680"/>
            <a:ext cx="5029200" cy="640080"/>
          </a:xfrm>
          <a:prstGeom prst="rect">
            <a:avLst/>
          </a:prstGeom>
          <a:noFill/>
        </p:spPr>
        <p:txBody>
          <a:bodyPr wrap="square">
            <a:spAutoFit/>
          </a:bodyPr>
          <a:lstStyle/>
          <a:p>
            <a:pPr algn="l"/>
            <a:r>
              <a:rPr sz="1600" b="1" i="0">
                <a:solidFill>
                  <a:srgbClr val="14201B"/>
                </a:solidFill>
                <a:latin typeface="Georgia"/>
                <a:ea typeface="Georgia"/>
                <a:cs typeface="Georgia"/>
              </a:rPr>
              <a:t>Cash retail, parts of wholesale, speculators, some cash professions, much real-estate gain</a:t>
            </a:r>
          </a:p>
        </p:txBody>
      </p:sp>
      <p:sp>
        <p:nvSpPr>
          <p:cNvPr id="15" name="TextBox 14"/>
          <p:cNvSpPr txBox="1"/>
          <p:nvPr/>
        </p:nvSpPr>
        <p:spPr>
          <a:xfrm>
            <a:off x="6446520" y="2788920"/>
            <a:ext cx="5029200" cy="2377440"/>
          </a:xfrm>
          <a:prstGeom prst="rect">
            <a:avLst/>
          </a:prstGeom>
          <a:noFill/>
        </p:spPr>
        <p:txBody>
          <a:bodyPr wrap="square">
            <a:spAutoFit/>
          </a:bodyPr>
          <a:lstStyle/>
          <a:p>
            <a:pPr>
              <a:spcAft>
                <a:spcPts val="800"/>
              </a:spcAft>
            </a:pPr>
            <a:r>
              <a:rPr sz="1500" b="0" i="0">
                <a:solidFill>
                  <a:srgbClr val="14201B"/>
                </a:solidFill>
                <a:latin typeface="Calibri"/>
                <a:ea typeface="Calibri"/>
                <a:cs typeface="Calibri"/>
              </a:rPr>
              <a:t>•  About 4.2–4.4 million traders are the Asaan Tax target — most still outside a serious return.</a:t>
            </a:r>
          </a:p>
          <a:p>
            <a:pPr>
              <a:spcAft>
                <a:spcPts val="800"/>
              </a:spcAft>
            </a:pPr>
            <a:r>
              <a:rPr sz="1500" b="0" i="0">
                <a:solidFill>
                  <a:srgbClr val="14201B"/>
                </a:solidFill>
                <a:latin typeface="Calibri"/>
                <a:ea typeface="Calibri"/>
                <a:cs typeface="Calibri"/>
              </a:rPr>
              <a:t>•  High-value cars and houses are often bought without income that matches the price.</a:t>
            </a:r>
          </a:p>
          <a:p>
            <a:pPr>
              <a:spcAft>
                <a:spcPts val="800"/>
              </a:spcAft>
            </a:pPr>
            <a:r>
              <a:rPr sz="1500" b="0" i="0">
                <a:solidFill>
                  <a:srgbClr val="14201B"/>
                </a:solidFill>
                <a:latin typeface="Calibri"/>
                <a:ea typeface="Calibri"/>
                <a:cs typeface="Calibri"/>
              </a:rPr>
              <a:t>•  Agriculture income is provincial; urban agri-wealth and lifestyle often escape both federation and province.</a:t>
            </a:r>
          </a:p>
        </p:txBody>
      </p:sp>
      <p:sp>
        <p:nvSpPr>
          <p:cNvPr id="16" name="TextBox 15"/>
          <p:cNvSpPr txBox="1"/>
          <p:nvPr/>
        </p:nvSpPr>
        <p:spPr>
          <a:xfrm>
            <a:off x="502920" y="5669280"/>
            <a:ext cx="11155680" cy="640080"/>
          </a:xfrm>
          <a:prstGeom prst="rect">
            <a:avLst/>
          </a:prstGeom>
          <a:noFill/>
        </p:spPr>
        <p:txBody>
          <a:bodyPr wrap="square">
            <a:spAutoFit/>
          </a:bodyPr>
          <a:lstStyle/>
          <a:p>
            <a:pPr algn="l"/>
            <a:r>
              <a:rPr sz="1600" b="0" i="0">
                <a:solidFill>
                  <a:srgbClr val="14201B"/>
                </a:solidFill>
                <a:latin typeface="Georgia"/>
                <a:ea typeface="Georgia"/>
                <a:cs typeface="Georgia"/>
              </a:rPr>
              <a:t>A just policy does not hunt the easy target. It documents the large leak, simplifies the small trader, and then lowers rates for everyone who stayed honest.</a:t>
            </a:r>
          </a:p>
        </p:txBody>
      </p:sp>
      <p:sp>
        <p:nvSpPr>
          <p:cNvPr id="17" name="TextBox 16"/>
          <p:cNvSpPr txBox="1"/>
          <p:nvPr/>
        </p:nvSpPr>
        <p:spPr>
          <a:xfrm>
            <a:off x="502920" y="6510528"/>
            <a:ext cx="7772400" cy="256032"/>
          </a:xfrm>
          <a:prstGeom prst="rect">
            <a:avLst/>
          </a:prstGeom>
          <a:noFill/>
        </p:spPr>
        <p:txBody>
          <a:bodyPr wrap="square">
            <a:spAutoFit/>
          </a:bodyPr>
          <a:lstStyle/>
          <a:p>
            <a:pPr algn="l"/>
            <a:r>
              <a:rPr sz="1000" b="0" i="0">
                <a:solidFill>
                  <a:srgbClr val="5C6B64"/>
                </a:solidFill>
                <a:latin typeface="Calibri"/>
                <a:ea typeface="Calibri"/>
                <a:cs typeface="Calibri"/>
              </a:rPr>
              <a:t>A Documented Pakistan</a:t>
            </a:r>
          </a:p>
        </p:txBody>
      </p:sp>
      <p:sp>
        <p:nvSpPr>
          <p:cNvPr id="18" name="TextBox 17"/>
          <p:cNvSpPr txBox="1"/>
          <p:nvPr/>
        </p:nvSpPr>
        <p:spPr>
          <a:xfrm>
            <a:off x="8412480" y="6510528"/>
            <a:ext cx="3246120" cy="256032"/>
          </a:xfrm>
          <a:prstGeom prst="rect">
            <a:avLst/>
          </a:prstGeom>
          <a:noFill/>
        </p:spPr>
        <p:txBody>
          <a:bodyPr wrap="square">
            <a:spAutoFit/>
          </a:bodyPr>
          <a:lstStyle/>
          <a:p>
            <a:pPr algn="r"/>
            <a:r>
              <a:rPr sz="1000" b="0" i="0">
                <a:solidFill>
                  <a:srgbClr val="5C6B64"/>
                </a:solidFill>
                <a:latin typeface="Calibri"/>
                <a:ea typeface="Calibri"/>
                <a:cs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3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11155680" cy="292608"/>
          </a:xfrm>
          <a:prstGeom prst="rect">
            <a:avLst/>
          </a:prstGeom>
          <a:noFill/>
        </p:spPr>
        <p:txBody>
          <a:bodyPr wrap="square">
            <a:spAutoFit/>
          </a:bodyPr>
          <a:lstStyle/>
          <a:p>
            <a:pPr algn="l"/>
            <a:r>
              <a:rPr sz="1100" b="1" i="0">
                <a:solidFill>
                  <a:srgbClr val="C9A227"/>
                </a:solidFill>
                <a:latin typeface="Calibri"/>
                <a:ea typeface="Calibri"/>
                <a:cs typeface="Calibri"/>
              </a:rPr>
              <a:t>10  —  PRACTICAL PATH</a:t>
            </a:r>
          </a:p>
        </p:txBody>
      </p:sp>
      <p:sp>
        <p:nvSpPr>
          <p:cNvPr id="6" name="TextBox 5"/>
          <p:cNvSpPr txBox="1"/>
          <p:nvPr/>
        </p:nvSpPr>
        <p:spPr>
          <a:xfrm>
            <a:off x="502920" y="566928"/>
            <a:ext cx="11155680" cy="640080"/>
          </a:xfrm>
          <a:prstGeom prst="rect">
            <a:avLst/>
          </a:prstGeom>
          <a:noFill/>
        </p:spPr>
        <p:txBody>
          <a:bodyPr wrap="square">
            <a:spAutoFit/>
          </a:bodyPr>
          <a:lstStyle/>
          <a:p>
            <a:pPr algn="l"/>
            <a:r>
              <a:rPr sz="3000" b="1" i="0">
                <a:solidFill>
                  <a:srgbClr val="14201B"/>
                </a:solidFill>
                <a:latin typeface="Georgia"/>
                <a:ea typeface="Georgia"/>
                <a:cs typeface="Georgia"/>
              </a:rPr>
              <a:t>A 12-month path that can actually work</a:t>
            </a:r>
          </a:p>
        </p:txBody>
      </p:sp>
      <p:sp>
        <p:nvSpPr>
          <p:cNvPr id="7" name="Rectangle 6"/>
          <p:cNvSpPr/>
          <p:nvPr/>
        </p:nvSpPr>
        <p:spPr>
          <a:xfrm>
            <a:off x="502920" y="128016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554480"/>
            <a:ext cx="3749039" cy="448056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737360"/>
            <a:ext cx="3337560" cy="256032"/>
          </a:xfrm>
          <a:prstGeom prst="rect">
            <a:avLst/>
          </a:prstGeom>
          <a:noFill/>
        </p:spPr>
        <p:txBody>
          <a:bodyPr wrap="square">
            <a:spAutoFit/>
          </a:bodyPr>
          <a:lstStyle/>
          <a:p>
            <a:pPr algn="l"/>
            <a:r>
              <a:rPr sz="1200" b="1" i="0">
                <a:solidFill>
                  <a:srgbClr val="C9A227"/>
                </a:solidFill>
                <a:latin typeface="Calibri"/>
                <a:ea typeface="Calibri"/>
                <a:cs typeface="Calibri"/>
              </a:rPr>
              <a:t>CITIZENS</a:t>
            </a:r>
          </a:p>
        </p:txBody>
      </p:sp>
      <p:sp>
        <p:nvSpPr>
          <p:cNvPr id="10" name="TextBox 9"/>
          <p:cNvSpPr txBox="1"/>
          <p:nvPr/>
        </p:nvSpPr>
        <p:spPr>
          <a:xfrm>
            <a:off x="612648" y="2057400"/>
            <a:ext cx="3337560" cy="640080"/>
          </a:xfrm>
          <a:prstGeom prst="rect">
            <a:avLst/>
          </a:prstGeom>
          <a:noFill/>
        </p:spPr>
        <p:txBody>
          <a:bodyPr wrap="square">
            <a:spAutoFit/>
          </a:bodyPr>
          <a:lstStyle/>
          <a:p>
            <a:pPr algn="l"/>
            <a:r>
              <a:rPr sz="1800" b="1" i="0">
                <a:solidFill>
                  <a:srgbClr val="14201B"/>
                </a:solidFill>
                <a:latin typeface="Georgia"/>
                <a:ea typeface="Georgia"/>
                <a:cs typeface="Georgia"/>
              </a:rPr>
              <a:t>File this year. Stay on ATL.</a:t>
            </a:r>
          </a:p>
        </p:txBody>
      </p:sp>
      <p:sp>
        <p:nvSpPr>
          <p:cNvPr id="11" name="TextBox 10"/>
          <p:cNvSpPr txBox="1"/>
          <p:nvPr/>
        </p:nvSpPr>
        <p:spPr>
          <a:xfrm>
            <a:off x="576072" y="2788920"/>
            <a:ext cx="3429000" cy="3017520"/>
          </a:xfrm>
          <a:prstGeom prst="rect">
            <a:avLst/>
          </a:prstGeom>
          <a:noFill/>
        </p:spPr>
        <p:txBody>
          <a:bodyPr wrap="square">
            <a:spAutoFit/>
          </a:bodyPr>
          <a:lstStyle/>
          <a:p>
            <a:pPr>
              <a:spcAft>
                <a:spcPts val="800"/>
              </a:spcAft>
            </a:pPr>
            <a:r>
              <a:rPr sz="1400" b="0" i="0">
                <a:solidFill>
                  <a:srgbClr val="14201B"/>
                </a:solidFill>
                <a:latin typeface="Calibri"/>
                <a:ea typeface="Calibri"/>
                <a:cs typeface="Calibri"/>
              </a:rPr>
              <a:t>•  Create an IRIS account / FBR app login.</a:t>
            </a:r>
          </a:p>
          <a:p>
            <a:pPr>
              <a:spcAft>
                <a:spcPts val="800"/>
              </a:spcAft>
            </a:pPr>
            <a:r>
              <a:rPr sz="1400" b="0" i="0">
                <a:solidFill>
                  <a:srgbClr val="14201B"/>
                </a:solidFill>
                <a:latin typeface="Calibri"/>
                <a:ea typeface="Calibri"/>
                <a:cs typeface="Calibri"/>
              </a:rPr>
              <a:t>•  File even if income is modest — filer status is an asset.</a:t>
            </a:r>
          </a:p>
          <a:p>
            <a:pPr>
              <a:spcAft>
                <a:spcPts val="800"/>
              </a:spcAft>
            </a:pPr>
            <a:r>
              <a:rPr sz="1400" b="0" i="0">
                <a:solidFill>
                  <a:srgbClr val="14201B"/>
                </a:solidFill>
                <a:latin typeface="Calibri"/>
                <a:ea typeface="Calibri"/>
                <a:cs typeface="Calibri"/>
              </a:rPr>
              <a:t>•  Keep bank trails for rent, fees and large buys.</a:t>
            </a:r>
          </a:p>
          <a:p>
            <a:pPr>
              <a:spcAft>
                <a:spcPts val="800"/>
              </a:spcAft>
            </a:pPr>
            <a:r>
              <a:rPr sz="1400" b="0" i="0">
                <a:solidFill>
                  <a:srgbClr val="14201B"/>
                </a:solidFill>
                <a:latin typeface="Calibri"/>
                <a:ea typeface="Calibri"/>
                <a:cs typeface="Calibri"/>
              </a:rPr>
              <a:t>•  Do not “save” tax by staying a non-filer: extra withholding is usually larger than the tax due.</a:t>
            </a:r>
          </a:p>
        </p:txBody>
      </p:sp>
      <p:sp>
        <p:nvSpPr>
          <p:cNvPr id="12" name="Rounded Rectangle 11"/>
          <p:cNvSpPr/>
          <p:nvPr/>
        </p:nvSpPr>
        <p:spPr>
          <a:xfrm>
            <a:off x="4297680" y="1554480"/>
            <a:ext cx="3749039" cy="448056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737360"/>
            <a:ext cx="3337560" cy="256032"/>
          </a:xfrm>
          <a:prstGeom prst="rect">
            <a:avLst/>
          </a:prstGeom>
          <a:noFill/>
        </p:spPr>
        <p:txBody>
          <a:bodyPr wrap="square">
            <a:spAutoFit/>
          </a:bodyPr>
          <a:lstStyle/>
          <a:p>
            <a:pPr algn="l"/>
            <a:r>
              <a:rPr sz="1200" b="1" i="0">
                <a:solidFill>
                  <a:srgbClr val="C9A227"/>
                </a:solidFill>
                <a:latin typeface="Calibri"/>
                <a:ea typeface="Calibri"/>
                <a:cs typeface="Calibri"/>
              </a:rPr>
              <a:t>TRADERS &amp; SMEs</a:t>
            </a:r>
          </a:p>
        </p:txBody>
      </p:sp>
      <p:sp>
        <p:nvSpPr>
          <p:cNvPr id="14" name="TextBox 13"/>
          <p:cNvSpPr txBox="1"/>
          <p:nvPr/>
        </p:nvSpPr>
        <p:spPr>
          <a:xfrm>
            <a:off x="4498848" y="2057400"/>
            <a:ext cx="3337560" cy="640080"/>
          </a:xfrm>
          <a:prstGeom prst="rect">
            <a:avLst/>
          </a:prstGeom>
          <a:noFill/>
        </p:spPr>
        <p:txBody>
          <a:bodyPr wrap="square">
            <a:spAutoFit/>
          </a:bodyPr>
          <a:lstStyle/>
          <a:p>
            <a:pPr algn="l"/>
            <a:r>
              <a:rPr sz="1800" b="1" i="0">
                <a:solidFill>
                  <a:srgbClr val="14201B"/>
                </a:solidFill>
                <a:latin typeface="Georgia"/>
                <a:ea typeface="Georgia"/>
                <a:cs typeface="Georgia"/>
              </a:rPr>
              <a:t>Pick the simple door, then grow.</a:t>
            </a:r>
          </a:p>
        </p:txBody>
      </p:sp>
      <p:sp>
        <p:nvSpPr>
          <p:cNvPr id="15" name="TextBox 14"/>
          <p:cNvSpPr txBox="1"/>
          <p:nvPr/>
        </p:nvSpPr>
        <p:spPr>
          <a:xfrm>
            <a:off x="4462272" y="2788920"/>
            <a:ext cx="3429000" cy="3017520"/>
          </a:xfrm>
          <a:prstGeom prst="rect">
            <a:avLst/>
          </a:prstGeom>
          <a:noFill/>
        </p:spPr>
        <p:txBody>
          <a:bodyPr wrap="square">
            <a:spAutoFit/>
          </a:bodyPr>
          <a:lstStyle/>
          <a:p>
            <a:pPr>
              <a:spcAft>
                <a:spcPts val="800"/>
              </a:spcAft>
            </a:pPr>
            <a:r>
              <a:rPr sz="1400" b="0" i="0">
                <a:solidFill>
                  <a:srgbClr val="14201B"/>
                </a:solidFill>
                <a:latin typeface="Calibri"/>
                <a:ea typeface="Calibri"/>
                <a:cs typeface="Calibri"/>
              </a:rPr>
              <a:t>•  If turnover ≤ Rs 200m: Fixed Tax Asaan Scheme — 1% of sales, minimum Rs 25,000, no routine POS/audit.</a:t>
            </a:r>
          </a:p>
          <a:p>
            <a:pPr>
              <a:spcAft>
                <a:spcPts val="800"/>
              </a:spcAft>
            </a:pPr>
            <a:r>
              <a:rPr sz="1400" b="0" i="0">
                <a:solidFill>
                  <a:srgbClr val="14201B"/>
                </a:solidFill>
                <a:latin typeface="Calibri"/>
                <a:ea typeface="Calibri"/>
                <a:cs typeface="Calibri"/>
              </a:rPr>
              <a:t>•  Keep a basic sales and purchase book. Under-declaring now is a future raid.</a:t>
            </a:r>
          </a:p>
          <a:p>
            <a:pPr>
              <a:spcAft>
                <a:spcPts val="800"/>
              </a:spcAft>
            </a:pPr>
            <a:r>
              <a:rPr sz="1400" b="0" i="0">
                <a:solidFill>
                  <a:srgbClr val="14201B"/>
                </a:solidFill>
                <a:latin typeface="Calibri"/>
                <a:ea typeface="Calibri"/>
                <a:cs typeface="Calibri"/>
              </a:rPr>
              <a:t>•  If you scale past the scheme, integrate e-invoicing before FBR forces it.</a:t>
            </a:r>
          </a:p>
        </p:txBody>
      </p:sp>
      <p:sp>
        <p:nvSpPr>
          <p:cNvPr id="16" name="Rounded Rectangle 15"/>
          <p:cNvSpPr/>
          <p:nvPr/>
        </p:nvSpPr>
        <p:spPr>
          <a:xfrm>
            <a:off x="8183880" y="1554480"/>
            <a:ext cx="3749039" cy="448056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1737360"/>
            <a:ext cx="3337560" cy="256032"/>
          </a:xfrm>
          <a:prstGeom prst="rect">
            <a:avLst/>
          </a:prstGeom>
          <a:noFill/>
        </p:spPr>
        <p:txBody>
          <a:bodyPr wrap="square">
            <a:spAutoFit/>
          </a:bodyPr>
          <a:lstStyle/>
          <a:p>
            <a:pPr algn="l"/>
            <a:r>
              <a:rPr sz="1200" b="1" i="0">
                <a:solidFill>
                  <a:srgbClr val="C9A227"/>
                </a:solidFill>
                <a:latin typeface="Calibri"/>
                <a:ea typeface="Calibri"/>
                <a:cs typeface="Calibri"/>
              </a:rPr>
              <a:t>THE STATE</a:t>
            </a:r>
          </a:p>
        </p:txBody>
      </p:sp>
      <p:sp>
        <p:nvSpPr>
          <p:cNvPr id="18" name="TextBox 17"/>
          <p:cNvSpPr txBox="1"/>
          <p:nvPr/>
        </p:nvSpPr>
        <p:spPr>
          <a:xfrm>
            <a:off x="8385048" y="2057400"/>
            <a:ext cx="3337560" cy="640080"/>
          </a:xfrm>
          <a:prstGeom prst="rect">
            <a:avLst/>
          </a:prstGeom>
          <a:noFill/>
        </p:spPr>
        <p:txBody>
          <a:bodyPr wrap="square">
            <a:spAutoFit/>
          </a:bodyPr>
          <a:lstStyle/>
          <a:p>
            <a:pPr algn="l"/>
            <a:r>
              <a:rPr sz="1800" b="1" i="0">
                <a:solidFill>
                  <a:srgbClr val="14201B"/>
                </a:solidFill>
                <a:latin typeface="Georgia"/>
                <a:ea typeface="Georgia"/>
                <a:cs typeface="Georgia"/>
              </a:rPr>
              <a:t>Stop repeating Tajir Dost.</a:t>
            </a:r>
          </a:p>
        </p:txBody>
      </p:sp>
      <p:sp>
        <p:nvSpPr>
          <p:cNvPr id="19" name="TextBox 18"/>
          <p:cNvSpPr txBox="1"/>
          <p:nvPr/>
        </p:nvSpPr>
        <p:spPr>
          <a:xfrm>
            <a:off x="8348472" y="2788920"/>
            <a:ext cx="3429000" cy="3017520"/>
          </a:xfrm>
          <a:prstGeom prst="rect">
            <a:avLst/>
          </a:prstGeom>
          <a:noFill/>
        </p:spPr>
        <p:txBody>
          <a:bodyPr wrap="square">
            <a:spAutoFit/>
          </a:bodyPr>
          <a:lstStyle/>
          <a:p>
            <a:pPr>
              <a:spcAft>
                <a:spcPts val="800"/>
              </a:spcAft>
            </a:pPr>
            <a:r>
              <a:rPr sz="1400" b="0" i="0">
                <a:solidFill>
                  <a:srgbClr val="14201B"/>
                </a:solidFill>
                <a:latin typeface="Calibri"/>
                <a:ea typeface="Calibri"/>
                <a:cs typeface="Calibri"/>
              </a:rPr>
              <a:t>•  Honour the no-harassment promise on scheme shops.</a:t>
            </a:r>
          </a:p>
          <a:p>
            <a:pPr>
              <a:spcAft>
                <a:spcPts val="800"/>
              </a:spcAft>
            </a:pPr>
            <a:r>
              <a:rPr sz="1400" b="0" i="0">
                <a:solidFill>
                  <a:srgbClr val="14201B"/>
                </a:solidFill>
                <a:latin typeface="Calibri"/>
                <a:ea typeface="Calibri"/>
                <a:cs typeface="Calibri"/>
              </a:rPr>
              <a:t>•  Notify Section 114C with clear rules — then apply it to luxury leaks, not kiryana stores.</a:t>
            </a:r>
          </a:p>
          <a:p>
            <a:pPr>
              <a:spcAft>
                <a:spcPts val="800"/>
              </a:spcAft>
            </a:pPr>
            <a:r>
              <a:rPr sz="1400" b="0" i="0">
                <a:solidFill>
                  <a:srgbClr val="14201B"/>
                </a:solidFill>
                <a:latin typeface="Calibri"/>
                <a:ea typeface="Calibri"/>
                <a:cs typeface="Calibri"/>
              </a:rPr>
              <a:t>•  Publish where the extra rupee goes: schools, water, local hospitals.</a:t>
            </a:r>
          </a:p>
          <a:p>
            <a:pPr>
              <a:spcAft>
                <a:spcPts val="800"/>
              </a:spcAft>
            </a:pPr>
            <a:r>
              <a:rPr sz="1400" b="0" i="0">
                <a:solidFill>
                  <a:srgbClr val="14201B"/>
                </a:solidFill>
                <a:latin typeface="Calibri"/>
                <a:ea typeface="Calibri"/>
                <a:cs typeface="Calibri"/>
              </a:rPr>
              <a:t>•  Match property, cars and electricity with returns. Quiet data beats noisy raids.</a:t>
            </a:r>
          </a:p>
        </p:txBody>
      </p:sp>
      <p:sp>
        <p:nvSpPr>
          <p:cNvPr id="20" name="TextBox 19"/>
          <p:cNvSpPr txBox="1"/>
          <p:nvPr/>
        </p:nvSpPr>
        <p:spPr>
          <a:xfrm>
            <a:off x="502920" y="6510528"/>
            <a:ext cx="7772400" cy="256032"/>
          </a:xfrm>
          <a:prstGeom prst="rect">
            <a:avLst/>
          </a:prstGeom>
          <a:noFill/>
        </p:spPr>
        <p:txBody>
          <a:bodyPr wrap="square">
            <a:spAutoFit/>
          </a:bodyPr>
          <a:lstStyle/>
          <a:p>
            <a:pPr algn="l"/>
            <a:r>
              <a:rPr sz="1000" b="0" i="0">
                <a:solidFill>
                  <a:srgbClr val="5C6B64"/>
                </a:solidFill>
                <a:latin typeface="Calibri"/>
                <a:ea typeface="Calibri"/>
                <a:cs typeface="Calibri"/>
              </a:rPr>
              <a:t>A Documented Pakistan</a:t>
            </a:r>
          </a:p>
        </p:txBody>
      </p:sp>
      <p:sp>
        <p:nvSpPr>
          <p:cNvPr id="21" name="TextBox 20"/>
          <p:cNvSpPr txBox="1"/>
          <p:nvPr/>
        </p:nvSpPr>
        <p:spPr>
          <a:xfrm>
            <a:off x="8412480" y="6510528"/>
            <a:ext cx="3246120" cy="256032"/>
          </a:xfrm>
          <a:prstGeom prst="rect">
            <a:avLst/>
          </a:prstGeom>
          <a:noFill/>
        </p:spPr>
        <p:txBody>
          <a:bodyPr wrap="square">
            <a:spAutoFit/>
          </a:bodyPr>
          <a:lstStyle/>
          <a:p>
            <a:pPr algn="r"/>
            <a:r>
              <a:rPr sz="1000" b="0" i="0">
                <a:solidFill>
                  <a:srgbClr val="5C6B64"/>
                </a:solidFill>
                <a:latin typeface="Calibri"/>
                <a:ea typeface="Calibri"/>
                <a:cs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095390" cy="6858000"/>
          </a:xfrm>
          <a:prstGeom prst="rect">
            <a:avLst/>
          </a:prstGeom>
          <a:solidFill>
            <a:srgbClr val="123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6858000"/>
          </a:xfrm>
          <a:prstGeom prst="rect">
            <a:avLst/>
          </a:prstGeom>
          <a:solidFill>
            <a:srgbClr val="3A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5212080" cy="274320"/>
          </a:xfrm>
          <a:prstGeom prst="rect">
            <a:avLst/>
          </a:prstGeom>
          <a:noFill/>
        </p:spPr>
        <p:txBody>
          <a:bodyPr wrap="square">
            <a:spAutoFit/>
          </a:bodyPr>
          <a:lstStyle/>
          <a:p>
            <a:pPr algn="l"/>
            <a:r>
              <a:rPr sz="1200" b="1" i="0">
                <a:solidFill>
                  <a:srgbClr val="E8D48B"/>
                </a:solidFill>
                <a:latin typeface="Calibri"/>
                <a:ea typeface="Calibri"/>
                <a:cs typeface="Calibri"/>
              </a:rPr>
              <a:t>IF WE DO THIS</a:t>
            </a:r>
          </a:p>
        </p:txBody>
      </p:sp>
      <p:sp>
        <p:nvSpPr>
          <p:cNvPr id="5" name="TextBox 4"/>
          <p:cNvSpPr txBox="1"/>
          <p:nvPr/>
        </p:nvSpPr>
        <p:spPr>
          <a:xfrm>
            <a:off x="457200" y="777240"/>
            <a:ext cx="5212080" cy="1005840"/>
          </a:xfrm>
          <a:prstGeom prst="rect">
            <a:avLst/>
          </a:prstGeom>
          <a:noFill/>
        </p:spPr>
        <p:txBody>
          <a:bodyPr wrap="square">
            <a:spAutoFit/>
          </a:bodyPr>
          <a:lstStyle/>
          <a:p>
            <a:pPr algn="l"/>
            <a:r>
              <a:rPr sz="2800" b="1" i="0">
                <a:solidFill>
                  <a:srgbClr val="F6F1E6"/>
                </a:solidFill>
                <a:latin typeface="Georgia"/>
                <a:ea typeface="Georgia"/>
                <a:cs typeface="Georgia"/>
              </a:rPr>
              <a:t>A country that can see itself</a:t>
            </a:r>
          </a:p>
        </p:txBody>
      </p:sp>
      <p:sp>
        <p:nvSpPr>
          <p:cNvPr id="6" name="TextBox 5"/>
          <p:cNvSpPr txBox="1"/>
          <p:nvPr/>
        </p:nvSpPr>
        <p:spPr>
          <a:xfrm>
            <a:off x="457200" y="2011680"/>
            <a:ext cx="5212080" cy="4114800"/>
          </a:xfrm>
          <a:prstGeom prst="rect">
            <a:avLst/>
          </a:prstGeom>
          <a:noFill/>
        </p:spPr>
        <p:txBody>
          <a:bodyPr wrap="square">
            <a:spAutoFit/>
          </a:bodyPr>
          <a:lstStyle/>
          <a:p>
            <a:pPr>
              <a:spcAft>
                <a:spcPts val="800"/>
              </a:spcAft>
            </a:pPr>
            <a:r>
              <a:rPr sz="1600" b="0" i="0">
                <a:solidFill>
                  <a:srgbClr val="F6F1E6"/>
                </a:solidFill>
                <a:latin typeface="Calibri"/>
                <a:ea typeface="Calibri"/>
                <a:cs typeface="Calibri"/>
              </a:rPr>
              <a:t>•  Tax base expands; rates on the salaried can be discussed downward in good faith.</a:t>
            </a:r>
          </a:p>
          <a:p>
            <a:pPr>
              <a:spcAft>
                <a:spcPts val="800"/>
              </a:spcAft>
            </a:pPr>
            <a:r>
              <a:rPr sz="1600" b="0" i="0">
                <a:solidFill>
                  <a:srgbClr val="F6F1E6"/>
                </a:solidFill>
                <a:latin typeface="Calibri"/>
                <a:ea typeface="Calibri"/>
                <a:cs typeface="Calibri"/>
              </a:rPr>
              <a:t>•  IMF programmes become shorter because the numbers add up.</a:t>
            </a:r>
          </a:p>
          <a:p>
            <a:pPr>
              <a:spcAft>
                <a:spcPts val="800"/>
              </a:spcAft>
            </a:pPr>
            <a:r>
              <a:rPr sz="1600" b="0" i="0">
                <a:solidFill>
                  <a:srgbClr val="F6F1E6"/>
                </a:solidFill>
                <a:latin typeface="Calibri"/>
                <a:ea typeface="Calibri"/>
                <a:cs typeface="Calibri"/>
              </a:rPr>
              <a:t>•  Banks finance factories, not only plots.</a:t>
            </a:r>
          </a:p>
          <a:p>
            <a:pPr>
              <a:spcAft>
                <a:spcPts val="800"/>
              </a:spcAft>
            </a:pPr>
            <a:r>
              <a:rPr sz="1600" b="0" i="0">
                <a:solidFill>
                  <a:srgbClr val="F6F1E6"/>
                </a:solidFill>
                <a:latin typeface="Calibri"/>
                <a:ea typeface="Calibri"/>
                <a:cs typeface="Calibri"/>
              </a:rPr>
              <a:t>•  Luxury that cannot be explained is blocked at the registration desk.</a:t>
            </a:r>
          </a:p>
          <a:p>
            <a:pPr>
              <a:spcAft>
                <a:spcPts val="800"/>
              </a:spcAft>
            </a:pPr>
            <a:r>
              <a:rPr sz="1600" b="0" i="0">
                <a:solidFill>
                  <a:srgbClr val="F6F1E6"/>
                </a:solidFill>
                <a:latin typeface="Calibri"/>
                <a:ea typeface="Calibri"/>
                <a:cs typeface="Calibri"/>
              </a:rPr>
              <a:t>•  A teacher and a trader stand in the same civic line: both documented, both served.</a:t>
            </a:r>
          </a:p>
        </p:txBody>
      </p:sp>
      <p:sp>
        <p:nvSpPr>
          <p:cNvPr id="7" name="TextBox 6"/>
          <p:cNvSpPr txBox="1"/>
          <p:nvPr/>
        </p:nvSpPr>
        <p:spPr>
          <a:xfrm>
            <a:off x="6537960" y="411480"/>
            <a:ext cx="5212080" cy="274320"/>
          </a:xfrm>
          <a:prstGeom prst="rect">
            <a:avLst/>
          </a:prstGeom>
          <a:noFill/>
        </p:spPr>
        <p:txBody>
          <a:bodyPr wrap="square">
            <a:spAutoFit/>
          </a:bodyPr>
          <a:lstStyle/>
          <a:p>
            <a:pPr algn="l"/>
            <a:r>
              <a:rPr sz="1200" b="1" i="0">
                <a:solidFill>
                  <a:srgbClr val="E8D48B"/>
                </a:solidFill>
                <a:latin typeface="Calibri"/>
                <a:ea typeface="Calibri"/>
                <a:cs typeface="Calibri"/>
              </a:rPr>
              <a:t>IF WE DO NOT</a:t>
            </a:r>
          </a:p>
        </p:txBody>
      </p:sp>
      <p:sp>
        <p:nvSpPr>
          <p:cNvPr id="8" name="TextBox 7"/>
          <p:cNvSpPr txBox="1"/>
          <p:nvPr/>
        </p:nvSpPr>
        <p:spPr>
          <a:xfrm>
            <a:off x="6537960" y="777240"/>
            <a:ext cx="5212080" cy="1005840"/>
          </a:xfrm>
          <a:prstGeom prst="rect">
            <a:avLst/>
          </a:prstGeom>
          <a:noFill/>
        </p:spPr>
        <p:txBody>
          <a:bodyPr wrap="square">
            <a:spAutoFit/>
          </a:bodyPr>
          <a:lstStyle/>
          <a:p>
            <a:pPr algn="l"/>
            <a:r>
              <a:rPr sz="2800" b="1" i="0">
                <a:solidFill>
                  <a:srgbClr val="F6F1E6"/>
                </a:solidFill>
                <a:latin typeface="Georgia"/>
                <a:ea typeface="Georgia"/>
                <a:cs typeface="Georgia"/>
              </a:rPr>
              <a:t>The same cycle, more expensive</a:t>
            </a:r>
          </a:p>
        </p:txBody>
      </p:sp>
      <p:sp>
        <p:nvSpPr>
          <p:cNvPr id="9" name="TextBox 8"/>
          <p:cNvSpPr txBox="1"/>
          <p:nvPr/>
        </p:nvSpPr>
        <p:spPr>
          <a:xfrm>
            <a:off x="6537960" y="2011680"/>
            <a:ext cx="5212080" cy="4114800"/>
          </a:xfrm>
          <a:prstGeom prst="rect">
            <a:avLst/>
          </a:prstGeom>
          <a:noFill/>
        </p:spPr>
        <p:txBody>
          <a:bodyPr wrap="square">
            <a:spAutoFit/>
          </a:bodyPr>
          <a:lstStyle/>
          <a:p>
            <a:pPr>
              <a:spcAft>
                <a:spcPts val="800"/>
              </a:spcAft>
            </a:pPr>
            <a:r>
              <a:rPr sz="1600" b="0" i="0">
                <a:solidFill>
                  <a:srgbClr val="F6F1E6"/>
                </a:solidFill>
                <a:latin typeface="Calibri"/>
                <a:ea typeface="Calibri"/>
                <a:cs typeface="Calibri"/>
              </a:rPr>
              <a:t>•  Another budget of higher penalties on the same trapped base.</a:t>
            </a:r>
          </a:p>
          <a:p>
            <a:pPr>
              <a:spcAft>
                <a:spcPts val="800"/>
              </a:spcAft>
            </a:pPr>
            <a:r>
              <a:rPr sz="1600" b="0" i="0">
                <a:solidFill>
                  <a:srgbClr val="F6F1E6"/>
                </a:solidFill>
                <a:latin typeface="Calibri"/>
                <a:ea typeface="Calibri"/>
                <a:cs typeface="Calibri"/>
              </a:rPr>
              <a:t>•  Capital and talent leave; remaining businesses stay informal on purpose.</a:t>
            </a:r>
          </a:p>
          <a:p>
            <a:pPr>
              <a:spcAft>
                <a:spcPts val="800"/>
              </a:spcAft>
            </a:pPr>
            <a:r>
              <a:rPr sz="1600" b="0" i="0">
                <a:solidFill>
                  <a:srgbClr val="F6F1E6"/>
                </a:solidFill>
                <a:latin typeface="Calibri"/>
                <a:ea typeface="Calibri"/>
                <a:cs typeface="Calibri"/>
              </a:rPr>
              <a:t>•  Debt interest remains the largest “development” line.</a:t>
            </a:r>
          </a:p>
          <a:p>
            <a:pPr>
              <a:spcAft>
                <a:spcPts val="800"/>
              </a:spcAft>
            </a:pPr>
            <a:r>
              <a:rPr sz="1600" b="0" i="0">
                <a:solidFill>
                  <a:srgbClr val="F6F1E6"/>
                </a:solidFill>
                <a:latin typeface="Calibri"/>
                <a:ea typeface="Calibri"/>
                <a:cs typeface="Calibri"/>
              </a:rPr>
              <a:t>•  Smog, water, schools and hospitals stay underfunded while cash houses rise.</a:t>
            </a:r>
          </a:p>
          <a:p>
            <a:pPr>
              <a:spcAft>
                <a:spcPts val="800"/>
              </a:spcAft>
            </a:pPr>
            <a:r>
              <a:rPr sz="1600" b="0" i="0">
                <a:solidFill>
                  <a:srgbClr val="F6F1E6"/>
                </a:solidFill>
                <a:latin typeface="Calibri"/>
                <a:ea typeface="Calibri"/>
                <a:cs typeface="Calibri"/>
              </a:rPr>
              <a:t>•  The next generation inherits a state that still cannot count its own economy.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292608"/>
          </a:xfrm>
          <a:prstGeom prst="rect">
            <a:avLst/>
          </a:prstGeom>
          <a:noFill/>
        </p:spPr>
        <p:txBody>
          <a:bodyPr wrap="square">
            <a:spAutoFit/>
          </a:bodyPr>
          <a:lstStyle/>
          <a:p>
            <a:pPr algn="l"/>
            <a:r>
              <a:rPr sz="1100" b="1" i="0">
                <a:solidFill>
                  <a:srgbClr val="E8D48B"/>
                </a:solidFill>
                <a:latin typeface="Calibri"/>
                <a:ea typeface="Calibri"/>
                <a:cs typeface="Calibri"/>
              </a:rPr>
              <a:t>CLOSE</a:t>
            </a:r>
          </a:p>
        </p:txBody>
      </p:sp>
      <p:sp>
        <p:nvSpPr>
          <p:cNvPr id="5" name="Rectangle 4"/>
          <p:cNvSpPr/>
          <p:nvPr/>
        </p:nvSpPr>
        <p:spPr>
          <a:xfrm>
            <a:off x="502920" y="1051560"/>
            <a:ext cx="640080" cy="457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80160"/>
            <a:ext cx="11155680" cy="1645920"/>
          </a:xfrm>
          <a:prstGeom prst="rect">
            <a:avLst/>
          </a:prstGeom>
          <a:noFill/>
        </p:spPr>
        <p:txBody>
          <a:bodyPr wrap="square">
            <a:spAutoFit/>
          </a:bodyPr>
          <a:lstStyle/>
          <a:p>
            <a:pPr algn="l"/>
            <a:r>
              <a:rPr sz="2800" b="1" i="0">
                <a:solidFill>
                  <a:srgbClr val="F6F1E6"/>
                </a:solidFill>
                <a:latin typeface="Georgia"/>
                <a:ea typeface="Georgia"/>
                <a:cs typeface="Georgia"/>
              </a:rPr>
              <a:t>Documentation is not a tax. It is the decision that Pakistan will stop guessing — and stop punishing only the people it can already see.</a:t>
            </a:r>
          </a:p>
        </p:txBody>
      </p:sp>
      <p:sp>
        <p:nvSpPr>
          <p:cNvPr id="7" name="TextBox 6"/>
          <p:cNvSpPr txBox="1"/>
          <p:nvPr/>
        </p:nvSpPr>
        <p:spPr>
          <a:xfrm>
            <a:off x="502920" y="3200400"/>
            <a:ext cx="3611880" cy="274320"/>
          </a:xfrm>
          <a:prstGeom prst="rect">
            <a:avLst/>
          </a:prstGeom>
          <a:noFill/>
        </p:spPr>
        <p:txBody>
          <a:bodyPr wrap="square">
            <a:spAutoFit/>
          </a:bodyPr>
          <a:lstStyle/>
          <a:p>
            <a:pPr algn="l"/>
            <a:r>
              <a:rPr sz="1200" b="1" i="0">
                <a:solidFill>
                  <a:srgbClr val="C9A227"/>
                </a:solidFill>
                <a:latin typeface="Calibri"/>
                <a:ea typeface="Calibri"/>
                <a:cs typeface="Calibri"/>
              </a:rPr>
              <a:t>REMEMBER</a:t>
            </a:r>
          </a:p>
        </p:txBody>
      </p:sp>
      <p:sp>
        <p:nvSpPr>
          <p:cNvPr id="8" name="TextBox 7"/>
          <p:cNvSpPr txBox="1"/>
          <p:nvPr/>
        </p:nvSpPr>
        <p:spPr>
          <a:xfrm>
            <a:off x="502920" y="3566160"/>
            <a:ext cx="3611880" cy="1371600"/>
          </a:xfrm>
          <a:prstGeom prst="rect">
            <a:avLst/>
          </a:prstGeom>
          <a:noFill/>
        </p:spPr>
        <p:txBody>
          <a:bodyPr wrap="square">
            <a:spAutoFit/>
          </a:bodyPr>
          <a:lstStyle/>
          <a:p>
            <a:pPr algn="l"/>
            <a:r>
              <a:rPr sz="1500" b="0" i="0">
                <a:solidFill>
                  <a:srgbClr val="F6F1E6"/>
                </a:solidFill>
                <a:latin typeface="Calibri"/>
                <a:ea typeface="Calibri"/>
                <a:cs typeface="Calibri"/>
              </a:rPr>
              <a:t>~2.5 million active filers cannot finance 240 million lives. Broaden the base, then lower the rate.</a:t>
            </a:r>
          </a:p>
        </p:txBody>
      </p:sp>
      <p:sp>
        <p:nvSpPr>
          <p:cNvPr id="9" name="TextBox 8"/>
          <p:cNvSpPr txBox="1"/>
          <p:nvPr/>
        </p:nvSpPr>
        <p:spPr>
          <a:xfrm>
            <a:off x="4343400" y="3200400"/>
            <a:ext cx="3611880" cy="274320"/>
          </a:xfrm>
          <a:prstGeom prst="rect">
            <a:avLst/>
          </a:prstGeom>
          <a:noFill/>
        </p:spPr>
        <p:txBody>
          <a:bodyPr wrap="square">
            <a:spAutoFit/>
          </a:bodyPr>
          <a:lstStyle/>
          <a:p>
            <a:pPr algn="l"/>
            <a:r>
              <a:rPr sz="1200" b="1" i="0">
                <a:solidFill>
                  <a:srgbClr val="C9A227"/>
                </a:solidFill>
                <a:latin typeface="Calibri"/>
                <a:ea typeface="Calibri"/>
                <a:cs typeface="Calibri"/>
              </a:rPr>
              <a:t>APPLY</a:t>
            </a:r>
          </a:p>
        </p:txBody>
      </p:sp>
      <p:sp>
        <p:nvSpPr>
          <p:cNvPr id="10" name="TextBox 9"/>
          <p:cNvSpPr txBox="1"/>
          <p:nvPr/>
        </p:nvSpPr>
        <p:spPr>
          <a:xfrm>
            <a:off x="4343400" y="3566160"/>
            <a:ext cx="3611880" cy="1371600"/>
          </a:xfrm>
          <a:prstGeom prst="rect">
            <a:avLst/>
          </a:prstGeom>
          <a:noFill/>
        </p:spPr>
        <p:txBody>
          <a:bodyPr wrap="square">
            <a:spAutoFit/>
          </a:bodyPr>
          <a:lstStyle/>
          <a:p>
            <a:pPr algn="l"/>
            <a:r>
              <a:rPr sz="1500" b="0" i="0">
                <a:solidFill>
                  <a:srgbClr val="F6F1E6"/>
                </a:solidFill>
                <a:latin typeface="Calibri"/>
                <a:ea typeface="Calibri"/>
                <a:cs typeface="Calibri"/>
              </a:rPr>
              <a:t>File. Join Asaan Tax if you trade small. Keep books. The penalty for staying invisible is already more expensive than the tax.</a:t>
            </a:r>
          </a:p>
        </p:txBody>
      </p:sp>
      <p:sp>
        <p:nvSpPr>
          <p:cNvPr id="11" name="TextBox 10"/>
          <p:cNvSpPr txBox="1"/>
          <p:nvPr/>
        </p:nvSpPr>
        <p:spPr>
          <a:xfrm>
            <a:off x="8183880" y="3200400"/>
            <a:ext cx="3611880" cy="274320"/>
          </a:xfrm>
          <a:prstGeom prst="rect">
            <a:avLst/>
          </a:prstGeom>
          <a:noFill/>
        </p:spPr>
        <p:txBody>
          <a:bodyPr wrap="square">
            <a:spAutoFit/>
          </a:bodyPr>
          <a:lstStyle/>
          <a:p>
            <a:pPr algn="l"/>
            <a:r>
              <a:rPr sz="1200" b="1" i="0">
                <a:solidFill>
                  <a:srgbClr val="C9A227"/>
                </a:solidFill>
                <a:latin typeface="Calibri"/>
                <a:ea typeface="Calibri"/>
                <a:cs typeface="Calibri"/>
              </a:rPr>
              <a:t>DEMAND</a:t>
            </a:r>
          </a:p>
        </p:txBody>
      </p:sp>
      <p:sp>
        <p:nvSpPr>
          <p:cNvPr id="12" name="TextBox 11"/>
          <p:cNvSpPr txBox="1"/>
          <p:nvPr/>
        </p:nvSpPr>
        <p:spPr>
          <a:xfrm>
            <a:off x="8183880" y="3566160"/>
            <a:ext cx="3611880" cy="1371600"/>
          </a:xfrm>
          <a:prstGeom prst="rect">
            <a:avLst/>
          </a:prstGeom>
          <a:noFill/>
        </p:spPr>
        <p:txBody>
          <a:bodyPr wrap="square">
            <a:spAutoFit/>
          </a:bodyPr>
          <a:lstStyle/>
          <a:p>
            <a:pPr algn="l"/>
            <a:r>
              <a:rPr sz="1500" b="0" i="0">
                <a:solidFill>
                  <a:srgbClr val="F6F1E6"/>
                </a:solidFill>
                <a:latin typeface="Calibri"/>
                <a:ea typeface="Calibri"/>
                <a:cs typeface="Calibri"/>
              </a:rPr>
              <a:t>Enforcement on the big leak, protection for the honest, and public proof that the rupee built a school, not a scandal.</a:t>
            </a:r>
          </a:p>
        </p:txBody>
      </p:sp>
      <p:sp>
        <p:nvSpPr>
          <p:cNvPr id="13" name="TextBox 12"/>
          <p:cNvSpPr txBox="1"/>
          <p:nvPr/>
        </p:nvSpPr>
        <p:spPr>
          <a:xfrm>
            <a:off x="502920" y="5120640"/>
            <a:ext cx="11155680" cy="1234440"/>
          </a:xfrm>
          <a:prstGeom prst="rect">
            <a:avLst/>
          </a:prstGeom>
          <a:noFill/>
        </p:spPr>
        <p:txBody>
          <a:bodyPr wrap="square">
            <a:spAutoFit/>
          </a:bodyPr>
          <a:lstStyle/>
          <a:p>
            <a:pPr algn="l"/>
            <a:r>
              <a:rPr sz="1100" b="0" i="0">
                <a:solidFill>
                  <a:srgbClr val="8A9A93"/>
                </a:solidFill>
                <a:latin typeface="Calibri"/>
                <a:ea typeface="Calibri"/>
                <a:cs typeface="Calibri"/>
              </a:rPr>
              <a:t>Figures and legal notes: Finance Division Monthly Economic Update (July 2026); FBR collection and filer briefings (FY2025–FY2026); The News Budget FY27 analysis; Dawn and PKRevenue on Finance Bill 2026 penalties; Income Tax Ordinance s.114C (Finance Act 2025); Fixed Tax Asaan Scheme (June 2026). Penalty amounts and notification dates can change — verify on FBR / gazette before relying for compliance.</a:t>
            </a:r>
          </a:p>
        </p:txBody>
      </p:sp>
      <p:sp>
        <p:nvSpPr>
          <p:cNvPr id="14" name="TextBox 13"/>
          <p:cNvSpPr txBox="1"/>
          <p:nvPr/>
        </p:nvSpPr>
        <p:spPr>
          <a:xfrm>
            <a:off x="502920" y="6510528"/>
            <a:ext cx="7772400" cy="256032"/>
          </a:xfrm>
          <a:prstGeom prst="rect">
            <a:avLst/>
          </a:prstGeom>
          <a:noFill/>
        </p:spPr>
        <p:txBody>
          <a:bodyPr wrap="square">
            <a:spAutoFit/>
          </a:bodyPr>
          <a:lstStyle/>
          <a:p>
            <a:pPr algn="l"/>
            <a:r>
              <a:rPr sz="1000" b="0" i="0">
                <a:solidFill>
                  <a:srgbClr val="A8B5AE"/>
                </a:solidFill>
                <a:latin typeface="Calibri"/>
                <a:ea typeface="Calibri"/>
                <a:cs typeface="Calibri"/>
              </a:rPr>
              <a:t>A Documented Pakistan</a:t>
            </a:r>
          </a:p>
        </p:txBody>
      </p:sp>
      <p:sp>
        <p:nvSpPr>
          <p:cNvPr id="15" name="TextBox 14"/>
          <p:cNvSpPr txBox="1"/>
          <p:nvPr/>
        </p:nvSpPr>
        <p:spPr>
          <a:xfrm>
            <a:off x="8412480" y="6510528"/>
            <a:ext cx="3246120" cy="256032"/>
          </a:xfrm>
          <a:prstGeom prst="rect">
            <a:avLst/>
          </a:prstGeom>
          <a:noFill/>
        </p:spPr>
        <p:txBody>
          <a:bodyPr wrap="square">
            <a:spAutoFit/>
          </a:bodyPr>
          <a:lstStyle/>
          <a:p>
            <a:pPr algn="r"/>
            <a:r>
              <a:rPr sz="1000" b="0" i="0">
                <a:solidFill>
                  <a:srgbClr val="A8B5AE"/>
                </a:solidFill>
                <a:latin typeface="Calibri"/>
                <a:ea typeface="Calibri"/>
                <a:cs typeface="Calibri"/>
              </a:rPr>
              <a:t>13 / 13  ·  End of briefing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