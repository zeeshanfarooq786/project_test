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itle-her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7498079" cy="6858000"/>
          </a:xfrm>
          <a:prstGeom prst="rect">
            <a:avLst/>
          </a:prstGeom>
          <a:solidFill>
            <a:srgbClr val="0D1B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BC02D"/>
                </a:solidFill>
                <a:latin typeface="Calibri"/>
                <a:ea typeface="Calibri"/>
                <a:cs typeface="Calibri"/>
              </a:rPr>
              <a:t>RING GREEN PAKISTAN  ·  4TH SESSION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6583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German Waste Management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2608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BC02D"/>
                </a:solidFill>
                <a:latin typeface="Calibri"/>
                <a:ea typeface="Calibri"/>
                <a:cs typeface="Calibri"/>
              </a:rPr>
              <a:t>Mülltrennung  &amp;  Pfand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383280"/>
            <a:ext cx="6400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Welcome. Learn how Germany sorts waste as a resource — and how Pakistan can adapt it at home, in streets, and in law.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4754880"/>
            <a:ext cx="3657600" cy="1280160"/>
          </a:xfrm>
          <a:prstGeom prst="roundRect">
            <a:avLst>
              <a:gd name="adj" fmla="val 8000"/>
            </a:avLst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484632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BC02D"/>
                </a:solidFill>
                <a:latin typeface="Calibri"/>
                <a:ea typeface="Calibri"/>
                <a:cs typeface="Calibri"/>
              </a:rPr>
              <a:t>OBJECTIVE 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5166360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Understand every German bin + Pfand loop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4754880"/>
            <a:ext cx="3657600" cy="1280160"/>
          </a:xfrm>
          <a:prstGeom prst="roundRect">
            <a:avLst>
              <a:gd name="adj" fmla="val 8000"/>
            </a:avLst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484632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BC02D"/>
                </a:solidFill>
                <a:latin typeface="Calibri"/>
                <a:ea typeface="Calibri"/>
                <a:cs typeface="Calibri"/>
              </a:rPr>
              <a:t>OBJECTIVE 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5166360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Map a 4-phase Pakistan adaptation roadmap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4754880"/>
            <a:ext cx="3657600" cy="1280160"/>
          </a:xfrm>
          <a:prstGeom prst="roundRect">
            <a:avLst>
              <a:gd name="adj" fmla="val 8000"/>
            </a:avLst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20" y="484632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BC02D"/>
                </a:solidFill>
                <a:latin typeface="Calibri"/>
                <a:ea typeface="Calibri"/>
                <a:cs typeface="Calibri"/>
              </a:rPr>
              <a:t>SPEAKER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5166360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Ring Green Pakistan · Session Facilitators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65653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5F6B6E"/>
                </a:solidFill>
                <a:latin typeface="Calibri"/>
                <a:ea typeface="Calibri"/>
                <a:cs typeface="Calibri"/>
              </a:rPr>
              <a:t>RING GREEN PAKISTAN  ·  4TH SESSION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0" y="6565392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5F6B6E"/>
                </a:solidFill>
                <a:latin typeface="Calibri"/>
                <a:ea typeface="Calibri"/>
                <a:cs typeface="Calibri"/>
              </a:rPr>
              <a:t>01  /  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FBC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286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E7D32"/>
                </a:solidFill>
                <a:latin typeface="Calibri"/>
                <a:ea typeface="Calibri"/>
                <a:cs typeface="Calibri"/>
              </a:rPr>
              <a:t>MÜLLTRENNUNG — WHY GERMANY LEADS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029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12121"/>
                </a:solidFill>
                <a:latin typeface="Calibri"/>
                <a:ea typeface="Calibri"/>
                <a:cs typeface="Calibri"/>
              </a:rPr>
              <a:t>Germany treats waste as a resource — not leftover dirt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188720"/>
            <a:ext cx="356616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28016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E7D32"/>
                </a:solidFill>
                <a:latin typeface="Calibri"/>
                <a:ea typeface="Calibri"/>
                <a:cs typeface="Calibri"/>
              </a:rPr>
              <a:t>69%+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92024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F6B6E"/>
                </a:solidFill>
                <a:latin typeface="Calibri"/>
                <a:ea typeface="Calibri"/>
                <a:cs typeface="Calibri"/>
              </a:rPr>
              <a:t>Municipal waste recycled. Europe’s leader by household discipline.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0" y="1188720"/>
            <a:ext cx="356616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51960" y="128016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E7D32"/>
                </a:solidFill>
                <a:latin typeface="Calibri"/>
                <a:ea typeface="Calibri"/>
                <a:cs typeface="Calibri"/>
              </a:rPr>
              <a:t>98%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51960" y="192024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F6B6E"/>
                </a:solidFill>
                <a:latin typeface="Calibri"/>
                <a:ea typeface="Calibri"/>
                <a:cs typeface="Calibri"/>
              </a:rPr>
              <a:t>Pfand bottle return. Deposit makes returning natural.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" y="2880360"/>
            <a:ext cx="7269480" cy="3383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3017520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47A1"/>
                </a:solidFill>
                <a:latin typeface="Calibri"/>
                <a:ea typeface="Calibri"/>
                <a:cs typeface="Calibri"/>
              </a:rPr>
              <a:t>THE CORE PHILOSOPHY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383280"/>
            <a:ext cx="68580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212121"/>
                </a:solidFill>
                <a:latin typeface="Calibri"/>
                <a:ea typeface="Calibri"/>
                <a:cs typeface="Calibri"/>
              </a:rPr>
              <a:t>•  Waste is a raw material sitting in the wrong place.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12121"/>
                </a:solidFill>
                <a:latin typeface="Calibri"/>
                <a:ea typeface="Calibri"/>
                <a:cs typeface="Calibri"/>
              </a:rPr>
              <a:t>•  Sorting is mandatory at home — the kitchen is the first factory.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12121"/>
                </a:solidFill>
                <a:latin typeface="Calibri"/>
                <a:ea typeface="Calibri"/>
                <a:cs typeface="Calibri"/>
              </a:rPr>
              <a:t>•  Colour is the UI: Blue / Yellow / Brown / Gray + Glass + Pfand.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12121"/>
                </a:solidFill>
                <a:latin typeface="Calibri"/>
                <a:ea typeface="Calibri"/>
                <a:cs typeface="Calibri"/>
              </a:rPr>
              <a:t>•  The 4-bin RNO standard keeps streams uncontaminated.</a:t>
            </a:r>
          </a:p>
        </p:txBody>
      </p:sp>
      <p:pic>
        <p:nvPicPr>
          <p:cNvPr id="16" name="Picture 15" descr="german-bins-stree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1188720"/>
            <a:ext cx="3931920" cy="507492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365760" y="65653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5F6B6E"/>
                </a:solidFill>
                <a:latin typeface="Calibri"/>
                <a:ea typeface="Calibri"/>
                <a:cs typeface="Calibri"/>
              </a:rPr>
              <a:t>RING GREEN PAKISTAN  ·  4TH SESSION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0" y="6565392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5F6B6E"/>
                </a:solidFill>
                <a:latin typeface="Calibri"/>
                <a:ea typeface="Calibri"/>
                <a:cs typeface="Calibri"/>
              </a:rPr>
              <a:t>02  /  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FBC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20116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565C0"/>
                </a:solidFill>
                <a:latin typeface="Calibri"/>
                <a:ea typeface="Calibri"/>
                <a:cs typeface="Calibri"/>
              </a:rPr>
              <a:t>BLUE BIN — PAPER &amp; CARDBOARD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57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12121"/>
                </a:solidFill>
                <a:latin typeface="Calibri"/>
                <a:ea typeface="Calibri"/>
                <a:cs typeface="Calibri"/>
              </a:rPr>
              <a:t>Blue Bin — Paper &amp; Cardboard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9144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F6B6E"/>
                </a:solidFill>
                <a:latin typeface="Calibri"/>
                <a:ea typeface="Calibri"/>
                <a:cs typeface="Calibri"/>
              </a:rPr>
              <a:t>Clean fibre only. Grease and food kill the recycling loop.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371600"/>
            <a:ext cx="5486400" cy="3246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50876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E7D32"/>
                </a:solidFill>
                <a:latin typeface="Calibri"/>
                <a:ea typeface="Calibri"/>
                <a:cs typeface="Calibri"/>
              </a:rPr>
              <a:t>ALLOWED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874519"/>
            <a:ext cx="51206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212121"/>
                </a:solidFill>
                <a:latin typeface="Calibri"/>
                <a:ea typeface="Calibri"/>
                <a:cs typeface="Calibri"/>
              </a:rPr>
              <a:t>•  Clean paper &amp; newspapers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12121"/>
                </a:solidFill>
                <a:latin typeface="Calibri"/>
                <a:ea typeface="Calibri"/>
                <a:cs typeface="Calibri"/>
              </a:rPr>
              <a:t>•  Magazines &amp; catalogues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12121"/>
                </a:solidFill>
                <a:latin typeface="Calibri"/>
                <a:ea typeface="Calibri"/>
                <a:cs typeface="Calibri"/>
              </a:rPr>
              <a:t>•  Flattened cardboard boxes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12121"/>
                </a:solidFill>
                <a:latin typeface="Calibri"/>
                <a:ea typeface="Calibri"/>
                <a:cs typeface="Calibri"/>
              </a:rPr>
              <a:t>•  Envelopes (windows OK in most cities)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60" y="1371600"/>
            <a:ext cx="5669280" cy="3246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640" y="150876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62828"/>
                </a:solidFill>
                <a:latin typeface="Calibri"/>
                <a:ea typeface="Calibri"/>
                <a:cs typeface="Calibri"/>
              </a:rPr>
              <a:t>FORBIDDEN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1874519"/>
            <a:ext cx="5303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C62828"/>
                </a:solidFill>
                <a:latin typeface="Calibri"/>
                <a:ea typeface="Calibri"/>
                <a:cs typeface="Calibri"/>
              </a:rPr>
              <a:t>•  Dirty pizza boxes (grease / cheese)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C62828"/>
                </a:solidFill>
                <a:latin typeface="Calibri"/>
                <a:ea typeface="Calibri"/>
                <a:cs typeface="Calibri"/>
              </a:rPr>
              <a:t>•  Used tissues &amp; kitchen paper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C62828"/>
                </a:solidFill>
                <a:latin typeface="Calibri"/>
                <a:ea typeface="Calibri"/>
                <a:cs typeface="Calibri"/>
              </a:rPr>
              <a:t>•  Waxed / coated paper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C62828"/>
                </a:solidFill>
                <a:latin typeface="Calibri"/>
                <a:ea typeface="Calibri"/>
                <a:cs typeface="Calibri"/>
              </a:rPr>
              <a:t>•  Wet or food-stained fibre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4754880"/>
            <a:ext cx="7589520" cy="1554480"/>
          </a:xfrm>
          <a:prstGeom prst="roundRect">
            <a:avLst>
              <a:gd name="adj" fmla="val 8000"/>
            </a:avLst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4937760"/>
            <a:ext cx="72237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12121"/>
                </a:solidFill>
                <a:latin typeface="Calibri"/>
                <a:ea typeface="Calibri"/>
                <a:cs typeface="Calibri"/>
              </a:rPr>
              <a:t>Key rule: flatten every cardboard box. Volume, not weight, fills the communal bin.</a:t>
            </a:r>
          </a:p>
        </p:txBody>
      </p:sp>
      <p:pic>
        <p:nvPicPr>
          <p:cNvPr id="17" name="Picture 16" descr="blue-bin-pap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79" y="4754880"/>
            <a:ext cx="3566160" cy="155448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65760" y="65653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5F6B6E"/>
                </a:solidFill>
                <a:latin typeface="Calibri"/>
                <a:ea typeface="Calibri"/>
                <a:cs typeface="Calibri"/>
              </a:rPr>
              <a:t>RING GREEN PAKISTAN  ·  4TH SESSION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09760" y="6565392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5F6B6E"/>
                </a:solidFill>
                <a:latin typeface="Calibri"/>
                <a:ea typeface="Calibri"/>
                <a:cs typeface="Calibri"/>
              </a:rPr>
              <a:t>03  / 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FBC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BC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20116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BC02D"/>
                </a:solidFill>
                <a:latin typeface="Calibri"/>
                <a:ea typeface="Calibri"/>
                <a:cs typeface="Calibri"/>
              </a:rPr>
              <a:t>YELLOW BIN / YELLOW BAG — PACKAGING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57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12121"/>
                </a:solidFill>
                <a:latin typeface="Calibri"/>
                <a:ea typeface="Calibri"/>
                <a:cs typeface="Calibri"/>
              </a:rPr>
              <a:t>Yellow Bin / Yellow Bag — Packaging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9144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F6B6E"/>
                </a:solidFill>
                <a:latin typeface="Calibri"/>
                <a:ea typeface="Calibri"/>
                <a:cs typeface="Calibri"/>
              </a:rPr>
              <a:t>Plastic, metal, composite. Spoon-clean — do not waste water rinsing.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371600"/>
            <a:ext cx="5486400" cy="3246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50876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E7D32"/>
                </a:solidFill>
                <a:latin typeface="Calibri"/>
                <a:ea typeface="Calibri"/>
                <a:cs typeface="Calibri"/>
              </a:rPr>
              <a:t>ALLOWED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874519"/>
            <a:ext cx="51206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212121"/>
                </a:solidFill>
                <a:latin typeface="Calibri"/>
                <a:ea typeface="Calibri"/>
                <a:cs typeface="Calibri"/>
              </a:rPr>
              <a:t>•  Yogurt cups (plastic packaging)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12121"/>
                </a:solidFill>
                <a:latin typeface="Calibri"/>
                <a:ea typeface="Calibri"/>
                <a:cs typeface="Calibri"/>
              </a:rPr>
              <a:t>•  Tin cans (metal)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12121"/>
                </a:solidFill>
                <a:latin typeface="Calibri"/>
                <a:ea typeface="Calibri"/>
                <a:cs typeface="Calibri"/>
              </a:rPr>
              <a:t>•  Aluminium foil if mostly clean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12121"/>
                </a:solidFill>
                <a:latin typeface="Calibri"/>
                <a:ea typeface="Calibri"/>
                <a:cs typeface="Calibri"/>
              </a:rPr>
              <a:t>•  TetraPak / milk cartons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60" y="1371600"/>
            <a:ext cx="5669280" cy="3246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640" y="150876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62828"/>
                </a:solidFill>
                <a:latin typeface="Calibri"/>
                <a:ea typeface="Calibri"/>
                <a:cs typeface="Calibri"/>
              </a:rPr>
              <a:t>FORBIDDEN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1874519"/>
            <a:ext cx="5303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C62828"/>
                </a:solidFill>
                <a:latin typeface="Calibri"/>
                <a:ea typeface="Calibri"/>
                <a:cs typeface="Calibri"/>
              </a:rPr>
              <a:t>•  Food-filled packs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C62828"/>
                </a:solidFill>
                <a:latin typeface="Calibri"/>
                <a:ea typeface="Calibri"/>
                <a:cs typeface="Calibri"/>
              </a:rPr>
              <a:t>•  Pfand bottles/cans with DPG logo (return to supermarket)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C62828"/>
                </a:solidFill>
                <a:latin typeface="Calibri"/>
                <a:ea typeface="Calibri"/>
                <a:cs typeface="Calibri"/>
              </a:rPr>
              <a:t>•  Dirty diapers or residual waste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C62828"/>
                </a:solidFill>
                <a:latin typeface="Calibri"/>
                <a:ea typeface="Calibri"/>
                <a:cs typeface="Calibri"/>
              </a:rPr>
              <a:t>•  Do not waste litres of water rinsing empty packs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4754880"/>
            <a:ext cx="7589520" cy="1554480"/>
          </a:xfrm>
          <a:prstGeom prst="roundRect">
            <a:avLst>
              <a:gd name="adj" fmla="val 8000"/>
            </a:avLst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4937760"/>
            <a:ext cx="72237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12121"/>
                </a:solidFill>
                <a:latin typeface="Calibri"/>
                <a:ea typeface="Calibri"/>
                <a:cs typeface="Calibri"/>
              </a:rPr>
              <a:t>Spoon-clean rule: scrape, don’t rinse litres of water. DPG-logo bottles go to the Pfandautomat, not the yellow bag.</a:t>
            </a:r>
          </a:p>
        </p:txBody>
      </p:sp>
      <p:pic>
        <p:nvPicPr>
          <p:cNvPr id="17" name="Picture 16" descr="yellow-bin-packag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79" y="4754880"/>
            <a:ext cx="3566160" cy="155448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65760" y="65653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5F6B6E"/>
                </a:solidFill>
                <a:latin typeface="Calibri"/>
                <a:ea typeface="Calibri"/>
                <a:cs typeface="Calibri"/>
              </a:rPr>
              <a:t>RING GREEN PAKISTAN  ·  4TH SESSION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09760" y="6565392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5F6B6E"/>
                </a:solidFill>
                <a:latin typeface="Calibri"/>
                <a:ea typeface="Calibri"/>
                <a:cs typeface="Calibri"/>
              </a:rPr>
              <a:t>04  / 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FBC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D4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20116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D4C41"/>
                </a:solidFill>
                <a:latin typeface="Calibri"/>
                <a:ea typeface="Calibri"/>
                <a:cs typeface="Calibri"/>
              </a:rPr>
              <a:t>BROWN BIN — ORGANIC / BIOTONNE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57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12121"/>
                </a:solidFill>
                <a:latin typeface="Calibri"/>
                <a:ea typeface="Calibri"/>
                <a:cs typeface="Calibri"/>
              </a:rPr>
              <a:t>Brown Bin — Organic / Biotonne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9144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F6B6E"/>
                </a:solidFill>
                <a:latin typeface="Calibri"/>
                <a:ea typeface="Calibri"/>
                <a:cs typeface="Calibri"/>
              </a:rPr>
              <a:t>Kitchen and garden leftovers become compost and biogas.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371600"/>
            <a:ext cx="5486400" cy="3246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50876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E7D32"/>
                </a:solidFill>
                <a:latin typeface="Calibri"/>
                <a:ea typeface="Calibri"/>
                <a:cs typeface="Calibri"/>
              </a:rPr>
              <a:t>ALLOWED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874519"/>
            <a:ext cx="51206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212121"/>
                </a:solidFill>
                <a:latin typeface="Calibri"/>
                <a:ea typeface="Calibri"/>
                <a:cs typeface="Calibri"/>
              </a:rPr>
              <a:t>•  Fruit &amp; vegetable peels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12121"/>
                </a:solidFill>
                <a:latin typeface="Calibri"/>
                <a:ea typeface="Calibri"/>
                <a:cs typeface="Calibri"/>
              </a:rPr>
              <a:t>•  Food scraps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12121"/>
                </a:solidFill>
                <a:latin typeface="Calibri"/>
                <a:ea typeface="Calibri"/>
                <a:cs typeface="Calibri"/>
              </a:rPr>
              <a:t>•  Coffee grounds &amp; tea bags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12121"/>
                </a:solidFill>
                <a:latin typeface="Calibri"/>
                <a:ea typeface="Calibri"/>
                <a:cs typeface="Calibri"/>
              </a:rPr>
              <a:t>•  Garden trimmings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60" y="1371600"/>
            <a:ext cx="5669280" cy="3246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640" y="150876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62828"/>
                </a:solidFill>
                <a:latin typeface="Calibri"/>
                <a:ea typeface="Calibri"/>
                <a:cs typeface="Calibri"/>
              </a:rPr>
              <a:t>FORBIDDEN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1874519"/>
            <a:ext cx="5303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C62828"/>
                </a:solidFill>
                <a:latin typeface="Calibri"/>
                <a:ea typeface="Calibri"/>
                <a:cs typeface="Calibri"/>
              </a:rPr>
              <a:t>•  Plastic bags — even “compostable” bio-plastic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C62828"/>
                </a:solidFill>
                <a:latin typeface="Calibri"/>
                <a:ea typeface="Calibri"/>
                <a:cs typeface="Calibri"/>
              </a:rPr>
              <a:t>•  Use newspaper or paper bags only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C62828"/>
                </a:solidFill>
                <a:latin typeface="Calibri"/>
                <a:ea typeface="Calibri"/>
                <a:cs typeface="Calibri"/>
              </a:rPr>
              <a:t>•  Glass, metal, packaging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C62828"/>
                </a:solidFill>
                <a:latin typeface="Calibri"/>
                <a:ea typeface="Calibri"/>
                <a:cs typeface="Calibri"/>
              </a:rPr>
              <a:t>•  Residual sanitary waste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4754880"/>
            <a:ext cx="7589520" cy="1554480"/>
          </a:xfrm>
          <a:prstGeom prst="roundRect">
            <a:avLst>
              <a:gd name="adj" fmla="val 8000"/>
            </a:avLst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4937760"/>
            <a:ext cx="72237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12121"/>
                </a:solidFill>
                <a:latin typeface="Calibri"/>
                <a:ea typeface="Calibri"/>
                <a:cs typeface="Calibri"/>
              </a:rPr>
              <a:t>Environmental value: kitchen → Biotonne → municipal composting + biogas power. Organic waste is fuel and fertiliser.</a:t>
            </a:r>
          </a:p>
        </p:txBody>
      </p:sp>
      <p:pic>
        <p:nvPicPr>
          <p:cNvPr id="17" name="Picture 16" descr="brown-bin-organi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79" y="4754880"/>
            <a:ext cx="3566160" cy="155448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65760" y="65653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5F6B6E"/>
                </a:solidFill>
                <a:latin typeface="Calibri"/>
                <a:ea typeface="Calibri"/>
                <a:cs typeface="Calibri"/>
              </a:rPr>
              <a:t>RING GREEN PAKISTAN  ·  4TH SESSION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09760" y="6565392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5F6B6E"/>
                </a:solidFill>
                <a:latin typeface="Calibri"/>
                <a:ea typeface="Calibri"/>
                <a:cs typeface="Calibri"/>
              </a:rPr>
              <a:t>05  / 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FBC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55A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2286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455A64"/>
                </a:solidFill>
                <a:latin typeface="Calibri"/>
                <a:ea typeface="Calibri"/>
                <a:cs typeface="Calibri"/>
              </a:rPr>
              <a:t>GRAY BIN · RESTMÜLL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5029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12121"/>
                </a:solidFill>
                <a:latin typeface="Calibri"/>
                <a:ea typeface="Calibri"/>
                <a:cs typeface="Calibri"/>
              </a:rPr>
              <a:t>Black / Gray Bin — residual waste only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188720"/>
            <a:ext cx="5760720" cy="5029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32588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47A1"/>
                </a:solidFill>
                <a:latin typeface="Calibri"/>
                <a:ea typeface="Calibri"/>
                <a:cs typeface="Calibri"/>
              </a:rPr>
              <a:t>ALLOWED (NON-RECYCLABLES)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737360"/>
            <a:ext cx="53949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212121"/>
                </a:solidFill>
                <a:latin typeface="Calibri"/>
                <a:ea typeface="Calibri"/>
                <a:cs typeface="Calibri"/>
              </a:rPr>
              <a:t>•  Vacuum bags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12121"/>
                </a:solidFill>
                <a:latin typeface="Calibri"/>
                <a:ea typeface="Calibri"/>
                <a:cs typeface="Calibri"/>
              </a:rPr>
              <a:t>•  Ash &amp; cigarette butts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12121"/>
                </a:solidFill>
                <a:latin typeface="Calibri"/>
                <a:ea typeface="Calibri"/>
                <a:cs typeface="Calibri"/>
              </a:rPr>
              <a:t>•  Diapers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12121"/>
                </a:solidFill>
                <a:latin typeface="Calibri"/>
                <a:ea typeface="Calibri"/>
                <a:cs typeface="Calibri"/>
              </a:rPr>
              <a:t>•  Broken ceramics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12121"/>
                </a:solidFill>
                <a:latin typeface="Calibri"/>
                <a:ea typeface="Calibri"/>
                <a:cs typeface="Calibri"/>
              </a:rPr>
              <a:t>•  Sanitation items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12121"/>
                </a:solidFill>
                <a:latin typeface="Calibri"/>
                <a:ea typeface="Calibri"/>
                <a:cs typeface="Calibri"/>
              </a:rPr>
              <a:t>•  Dirty mix that cannot be recycled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846320"/>
            <a:ext cx="5394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12121"/>
                </a:solidFill>
                <a:latin typeface="Calibri"/>
                <a:ea typeface="Calibri"/>
                <a:cs typeface="Calibri"/>
              </a:rPr>
              <a:t>Golden rule: keep this bin as empty as possible by using the other streams first.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188720"/>
            <a:ext cx="5349240" cy="5029200"/>
          </a:xfrm>
          <a:prstGeom prst="roundRect">
            <a:avLst>
              <a:gd name="adj" fmla="val 8000"/>
            </a:avLst>
          </a:prstGeom>
          <a:solidFill>
            <a:srgbClr val="263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1325880"/>
            <a:ext cx="4983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BC02D"/>
                </a:solidFill>
                <a:latin typeface="Calibri"/>
                <a:ea typeface="Calibri"/>
                <a:cs typeface="Calibri"/>
              </a:rPr>
              <a:t>FINAL DESTINATION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1691640"/>
            <a:ext cx="4983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Incineration → district heating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240280"/>
            <a:ext cx="4983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Restmüll is burned in controlled plants. Heat warms homes. A full gray bin is treated as a sorting failure, not a normal week.</a:t>
            </a:r>
          </a:p>
        </p:txBody>
      </p:sp>
      <p:pic>
        <p:nvPicPr>
          <p:cNvPr id="16" name="Picture 15" descr="gray-bin-residua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3794760"/>
            <a:ext cx="4983480" cy="219456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365760" y="65653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5F6B6E"/>
                </a:solidFill>
                <a:latin typeface="Calibri"/>
                <a:ea typeface="Calibri"/>
                <a:cs typeface="Calibri"/>
              </a:rPr>
              <a:t>RING GREEN PAKISTAN  ·  4TH SESSION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0" y="6565392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5F6B6E"/>
                </a:solidFill>
                <a:latin typeface="Calibri"/>
                <a:ea typeface="Calibri"/>
                <a:cs typeface="Calibri"/>
              </a:rPr>
              <a:t>06  / 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FBC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E7D32"/>
                </a:solidFill>
                <a:latin typeface="Calibri"/>
                <a:ea typeface="Calibri"/>
                <a:cs typeface="Calibri"/>
              </a:rPr>
              <a:t>GLASCONTAINER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57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212121"/>
                </a:solidFill>
                <a:latin typeface="Calibri"/>
                <a:ea typeface="Calibri"/>
                <a:cs typeface="Calibri"/>
              </a:rPr>
              <a:t>Street glass igloos — sort by colour, not by brand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097280"/>
            <a:ext cx="3657600" cy="1828800"/>
          </a:xfrm>
          <a:prstGeom prst="roundRect">
            <a:avLst>
              <a:gd name="adj" fmla="val 8000"/>
            </a:avLst>
          </a:prstGeom>
          <a:solidFill>
            <a:srgbClr val="EC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2344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12121"/>
                </a:solidFill>
                <a:latin typeface="Calibri"/>
                <a:ea typeface="Calibri"/>
                <a:cs typeface="Calibri"/>
              </a:rPr>
              <a:t>White · Weißglas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645920"/>
            <a:ext cx="32918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12121"/>
                </a:solidFill>
                <a:latin typeface="Calibri"/>
                <a:ea typeface="Calibri"/>
                <a:cs typeface="Calibri"/>
              </a:rPr>
              <a:t>Clear bottles and jars. Colour contamination ruins the melt.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1097280"/>
            <a:ext cx="3657600" cy="1828800"/>
          </a:xfrm>
          <a:prstGeom prst="roundRect">
            <a:avLst>
              <a:gd name="adj" fmla="val 8000"/>
            </a:avLst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12344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Green · Grünglas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1645920"/>
            <a:ext cx="32918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Green plus blue and other mixed colours in most cities.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097280"/>
            <a:ext cx="3657600" cy="1828800"/>
          </a:xfrm>
          <a:prstGeom prst="roundRect">
            <a:avLst>
              <a:gd name="adj" fmla="val 8000"/>
            </a:avLst>
          </a:prstGeom>
          <a:solidFill>
            <a:srgbClr val="6D4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20" y="12344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Brown · Braunglas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1645920"/>
            <a:ext cx="32918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Brown beer and ordinary household brown bottles.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" y="3108960"/>
            <a:ext cx="6675120" cy="3108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3246120"/>
            <a:ext cx="6309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47A1"/>
                </a:solidFill>
                <a:latin typeface="Calibri"/>
                <a:ea typeface="Calibri"/>
                <a:cs typeface="Calibri"/>
              </a:rPr>
              <a:t>HOUSEHOLD VS SPECIAL GLASS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3657600"/>
            <a:ext cx="63093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212121"/>
                </a:solidFill>
                <a:latin typeface="Calibri"/>
                <a:ea typeface="Calibri"/>
                <a:cs typeface="Calibri"/>
              </a:rPr>
              <a:t>•  Jam jars, sauce bottles, ordinary drink glass → igloo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12121"/>
                </a:solidFill>
                <a:latin typeface="Calibri"/>
                <a:ea typeface="Calibri"/>
                <a:cs typeface="Calibri"/>
              </a:rPr>
              <a:t>•  Medical / pharma vials → Restmüll or hazardous stream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12121"/>
                </a:solidFill>
                <a:latin typeface="Calibri"/>
                <a:ea typeface="Calibri"/>
                <a:cs typeface="Calibri"/>
              </a:rPr>
              <a:t>•  Pyrex / heat-resistant cookware → Restmüll (different melting point)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12121"/>
                </a:solidFill>
                <a:latin typeface="Calibri"/>
                <a:ea typeface="Calibri"/>
                <a:cs typeface="Calibri"/>
              </a:rPr>
              <a:t>•  Quiet hours: weekdays daytime only. No Sundays, no nights.</a:t>
            </a:r>
          </a:p>
        </p:txBody>
      </p:sp>
      <p:pic>
        <p:nvPicPr>
          <p:cNvPr id="19" name="Picture 18" descr="glass-igloo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3108960"/>
            <a:ext cx="4434840" cy="310896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365760" y="65653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5F6B6E"/>
                </a:solidFill>
                <a:latin typeface="Calibri"/>
                <a:ea typeface="Calibri"/>
                <a:cs typeface="Calibri"/>
              </a:rPr>
              <a:t>RING GREEN PAKISTAN  ·  4TH SESSION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09760" y="6565392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5F6B6E"/>
                </a:solidFill>
                <a:latin typeface="Calibri"/>
                <a:ea typeface="Calibri"/>
                <a:cs typeface="Calibri"/>
              </a:rPr>
              <a:t>07  /  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FBC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E7D32"/>
                </a:solidFill>
                <a:latin typeface="Calibri"/>
                <a:ea typeface="Calibri"/>
                <a:cs typeface="Calibri"/>
              </a:rPr>
              <a:t>PFAND · DEPOSIT-REFUND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57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212121"/>
                </a:solidFill>
                <a:latin typeface="Calibri"/>
                <a:ea typeface="Calibri"/>
                <a:cs typeface="Calibri"/>
              </a:rPr>
              <a:t>The Pfand loop — 98% of bottles come home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051560"/>
            <a:ext cx="2743200" cy="1051560"/>
          </a:xfrm>
          <a:prstGeom prst="roundRect">
            <a:avLst>
              <a:gd name="adj" fmla="val 8000"/>
            </a:avLst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1208" y="1280160"/>
            <a:ext cx="252374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1. Customer pays deposit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7560" y="1051560"/>
            <a:ext cx="2743200" cy="1051560"/>
          </a:xfrm>
          <a:prstGeom prst="roundRect">
            <a:avLst>
              <a:gd name="adj" fmla="val 8000"/>
            </a:avLst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47288" y="1280160"/>
            <a:ext cx="252374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2. Uses the drink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051560"/>
            <a:ext cx="2743200" cy="1051560"/>
          </a:xfrm>
          <a:prstGeom prst="roundRect">
            <a:avLst>
              <a:gd name="adj" fmla="val 8000"/>
            </a:avLst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73368" y="1280160"/>
            <a:ext cx="252374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3. Pfandautomat at supermarket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89720" y="1051560"/>
            <a:ext cx="2743200" cy="1051560"/>
          </a:xfrm>
          <a:prstGeom prst="roundRect">
            <a:avLst>
              <a:gd name="adj" fmla="val 8000"/>
            </a:avLst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99448" y="1280160"/>
            <a:ext cx="252374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4. Cash / voucher back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2331720"/>
            <a:ext cx="5760720" cy="1828800"/>
          </a:xfrm>
          <a:prstGeom prst="roundRect">
            <a:avLst>
              <a:gd name="adj" fmla="val 8000"/>
            </a:avLst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246888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BC02D"/>
                </a:solidFill>
                <a:latin typeface="Calibri"/>
                <a:ea typeface="Calibri"/>
                <a:cs typeface="Calibri"/>
              </a:rPr>
              <a:t>SINGLE-USE  ·  EINWEG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2788920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€0.25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3337560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PET bottles &amp; cans with the DPG logo.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1480" y="4297680"/>
            <a:ext cx="5760720" cy="1874519"/>
          </a:xfrm>
          <a:prstGeom prst="roundRect">
            <a:avLst>
              <a:gd name="adj" fmla="val 8000"/>
            </a:avLst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443484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BC02D"/>
                </a:solidFill>
                <a:latin typeface="Calibri"/>
                <a:ea typeface="Calibri"/>
                <a:cs typeface="Calibri"/>
              </a:rPr>
              <a:t>MULTI-USE  ·  MEHRWEG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475488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€0.08 – €0.15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5257800"/>
            <a:ext cx="5394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Heavy plastic or glass beer/water bottles, reused up to 50 times.</a:t>
            </a:r>
          </a:p>
        </p:txBody>
      </p:sp>
      <p:pic>
        <p:nvPicPr>
          <p:cNvPr id="23" name="Picture 22" descr="pfandautoma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331720"/>
            <a:ext cx="5349240" cy="384048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365760" y="65653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5F6B6E"/>
                </a:solidFill>
                <a:latin typeface="Calibri"/>
                <a:ea typeface="Calibri"/>
                <a:cs typeface="Calibri"/>
              </a:rPr>
              <a:t>RING GREEN PAKISTAN  ·  4TH SESSION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09760" y="6565392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5F6B6E"/>
                </a:solidFill>
                <a:latin typeface="Calibri"/>
                <a:ea typeface="Calibri"/>
                <a:cs typeface="Calibri"/>
              </a:rPr>
              <a:t>08  /  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FBC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E7D32"/>
                </a:solidFill>
                <a:latin typeface="Calibri"/>
                <a:ea typeface="Calibri"/>
                <a:cs typeface="Calibri"/>
              </a:rPr>
              <a:t>APARTMENT BUILDINGS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572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212121"/>
                </a:solidFill>
                <a:latin typeface="Calibri"/>
                <a:ea typeface="Calibri"/>
                <a:cs typeface="Calibri"/>
              </a:rPr>
              <a:t>One neighbour’s lazy sorting becomes everyone’s bill</a:t>
            </a:r>
          </a:p>
        </p:txBody>
      </p:sp>
      <p:pic>
        <p:nvPicPr>
          <p:cNvPr id="7" name="Picture 6" descr="apartment-bin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43000"/>
            <a:ext cx="5577840" cy="50749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172200" y="1143000"/>
            <a:ext cx="557784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23444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47A1"/>
                </a:solidFill>
                <a:latin typeface="Calibri"/>
                <a:ea typeface="Calibri"/>
                <a:cs typeface="Calibri"/>
              </a:rPr>
              <a:t>HOW IT WORKS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1554480"/>
            <a:ext cx="5212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12121"/>
                </a:solidFill>
                <a:latin typeface="Calibri"/>
                <a:ea typeface="Calibri"/>
                <a:cs typeface="Calibri"/>
              </a:rPr>
              <a:t>Multi-family houses share a central bin yard. Collection is a building service, not a private hobby.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2697480"/>
            <a:ext cx="5577840" cy="1828800"/>
          </a:xfrm>
          <a:prstGeom prst="roundRect">
            <a:avLst>
              <a:gd name="adj" fmla="val 8000"/>
            </a:avLst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278892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62828"/>
                </a:solidFill>
                <a:latin typeface="Calibri"/>
                <a:ea typeface="Calibri"/>
                <a:cs typeface="Calibri"/>
              </a:rPr>
              <a:t>SHARED RESPONSIBILITY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3108960"/>
            <a:ext cx="5212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12121"/>
                </a:solidFill>
                <a:latin typeface="Calibri"/>
                <a:ea typeface="Calibri"/>
                <a:cs typeface="Calibri"/>
              </a:rPr>
              <a:t>If 1 tenant mis-sorts, the municipality can charge higher non-sorted fees to the whole building. Landlord spreads cost via Nebenkosten — or warns the renter.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4663440"/>
            <a:ext cx="5577840" cy="1554480"/>
          </a:xfrm>
          <a:prstGeom prst="roundRect">
            <a:avLst>
              <a:gd name="adj" fmla="val 8000"/>
            </a:avLst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4800600"/>
            <a:ext cx="52120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Repeat violations damage the residential record, risk lease termination, or trigger municipal citations.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5653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5F6B6E"/>
                </a:solidFill>
                <a:latin typeface="Calibri"/>
                <a:ea typeface="Calibri"/>
                <a:cs typeface="Calibri"/>
              </a:rPr>
              <a:t>RING GREEN PAKISTAN  ·  4TH SESSION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09760" y="6565392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5F6B6E"/>
                </a:solidFill>
                <a:latin typeface="Calibri"/>
                <a:ea typeface="Calibri"/>
                <a:cs typeface="Calibri"/>
              </a:rPr>
              <a:t>09  /  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FBC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E7D32"/>
                </a:solidFill>
                <a:latin typeface="Calibri"/>
                <a:ea typeface="Calibri"/>
                <a:cs typeface="Calibri"/>
              </a:rPr>
              <a:t>MONITORING · LAWS · FINES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57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212121"/>
                </a:solidFill>
                <a:latin typeface="Calibri"/>
                <a:ea typeface="Calibri"/>
                <a:cs typeface="Calibri"/>
              </a:rPr>
              <a:t>The state watches the bin — and will leave it standing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097280"/>
            <a:ext cx="576072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23444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47A1"/>
                </a:solidFill>
                <a:latin typeface="Calibri"/>
                <a:ea typeface="Calibri"/>
                <a:cs typeface="Calibri"/>
              </a:rPr>
              <a:t>GOVERNMENT MECHANISM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600200"/>
            <a:ext cx="53949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212121"/>
                </a:solidFill>
                <a:latin typeface="Calibri"/>
                <a:ea typeface="Calibri"/>
                <a:cs typeface="Calibri"/>
              </a:rPr>
              <a:t>•  Waste inspectors — Mülldetektive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12121"/>
                </a:solidFill>
                <a:latin typeface="Calibri"/>
                <a:ea typeface="Calibri"/>
                <a:cs typeface="Calibri"/>
              </a:rPr>
              <a:t>•  Abfallkalender pickup calendar by street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12121"/>
                </a:solidFill>
                <a:latin typeface="Calibri"/>
                <a:ea typeface="Calibri"/>
                <a:cs typeface="Calibri"/>
              </a:rPr>
              <a:t>•  Separate trucks per stream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3337560"/>
            <a:ext cx="5760720" cy="2834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347472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47A1"/>
                </a:solidFill>
                <a:latin typeface="Calibri"/>
                <a:ea typeface="Calibri"/>
                <a:cs typeface="Calibri"/>
              </a:rPr>
              <a:t>COLLECTION RULES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840480"/>
            <a:ext cx="5394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12121"/>
                </a:solidFill>
                <a:latin typeface="Calibri"/>
                <a:ea typeface="Calibri"/>
                <a:cs typeface="Calibri"/>
              </a:rPr>
              <a:t>Wrong materials → warning sticker and no collection until re-sorted.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937760"/>
            <a:ext cx="5394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C62828"/>
                </a:solidFill>
                <a:latin typeface="Calibri"/>
                <a:ea typeface="Calibri"/>
                <a:cs typeface="Calibri"/>
              </a:rPr>
              <a:t>Illegal dumping (Sperrmüll / Wildmüll): fines €50 up to €2,500+ by federal state.</a:t>
            </a:r>
          </a:p>
        </p:txBody>
      </p:sp>
      <p:pic>
        <p:nvPicPr>
          <p:cNvPr id="14" name="Picture 13" descr="waste-tru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097280"/>
            <a:ext cx="5349240" cy="50749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65760" y="65653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5F6B6E"/>
                </a:solidFill>
                <a:latin typeface="Calibri"/>
                <a:ea typeface="Calibri"/>
                <a:cs typeface="Calibri"/>
              </a:rPr>
              <a:t>RING GREEN PAKISTAN  ·  4TH SESSION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09760" y="6565392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5F6B6E"/>
                </a:solidFill>
                <a:latin typeface="Calibri"/>
                <a:ea typeface="Calibri"/>
                <a:cs typeface="Calibri"/>
              </a:rPr>
              <a:t>10  /  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FBC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E7D32"/>
                </a:solidFill>
                <a:latin typeface="Calibri"/>
                <a:ea typeface="Calibri"/>
                <a:cs typeface="Calibri"/>
              </a:rPr>
              <a:t>WASTE JOURNEY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57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212121"/>
                </a:solidFill>
                <a:latin typeface="Calibri"/>
                <a:ea typeface="Calibri"/>
                <a:cs typeface="Calibri"/>
              </a:rPr>
              <a:t>Five steps from kitchen to circular re-entry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1188720"/>
            <a:ext cx="2240280" cy="4114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188720"/>
            <a:ext cx="2240280" cy="914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417320"/>
            <a:ext cx="1965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D47A1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96596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12121"/>
                </a:solidFill>
                <a:latin typeface="Calibri"/>
                <a:ea typeface="Calibri"/>
                <a:cs typeface="Calibri"/>
              </a:rPr>
              <a:t>Source separation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2926080"/>
            <a:ext cx="20116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5F6B6E"/>
                </a:solidFill>
                <a:latin typeface="Calibri"/>
                <a:ea typeface="Calibri"/>
                <a:cs typeface="Calibri"/>
              </a:rPr>
              <a:t>Kitchen caddies: paper, packaging, organic, residual.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79192" y="1188720"/>
            <a:ext cx="2240280" cy="4114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679192" y="1188720"/>
            <a:ext cx="2240280" cy="914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16352" y="1417320"/>
            <a:ext cx="1965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D47A1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88920" y="196596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12121"/>
                </a:solidFill>
                <a:latin typeface="Calibri"/>
                <a:ea typeface="Calibri"/>
                <a:cs typeface="Calibri"/>
              </a:rPr>
              <a:t>Bin placement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88920" y="2926080"/>
            <a:ext cx="20116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5F6B6E"/>
                </a:solidFill>
                <a:latin typeface="Calibri"/>
                <a:ea typeface="Calibri"/>
                <a:cs typeface="Calibri"/>
              </a:rPr>
              <a:t>Curbside on the Abfallkalender day only.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38344" y="1188720"/>
            <a:ext cx="2240280" cy="4114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38344" y="1188720"/>
            <a:ext cx="2240280" cy="91440"/>
          </a:xfrm>
          <a:prstGeom prst="rect">
            <a:avLst/>
          </a:prstGeom>
          <a:solidFill>
            <a:srgbClr val="FBC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75504" y="1417320"/>
            <a:ext cx="1965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D47A1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48072" y="196596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12121"/>
                </a:solidFill>
                <a:latin typeface="Calibri"/>
                <a:ea typeface="Calibri"/>
                <a:cs typeface="Calibri"/>
              </a:rPr>
              <a:t>Specialized pickup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48072" y="2926080"/>
            <a:ext cx="20116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5F6B6E"/>
                </a:solidFill>
                <a:latin typeface="Calibri"/>
                <a:ea typeface="Calibri"/>
                <a:cs typeface="Calibri"/>
              </a:rPr>
              <a:t>Dedicated trucks per stream. No mixed lorry.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97496" y="1188720"/>
            <a:ext cx="2240280" cy="4114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97496" y="1188720"/>
            <a:ext cx="2240280" cy="914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34656" y="1417320"/>
            <a:ext cx="1965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D47A1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07224" y="196596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12121"/>
                </a:solidFill>
                <a:latin typeface="Calibri"/>
                <a:ea typeface="Calibri"/>
                <a:cs typeface="Calibri"/>
              </a:rPr>
              <a:t>Sorting &amp; Pfand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07224" y="2926080"/>
            <a:ext cx="20116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5F6B6E"/>
                </a:solidFill>
                <a:latin typeface="Calibri"/>
                <a:ea typeface="Calibri"/>
                <a:cs typeface="Calibri"/>
              </a:rPr>
              <a:t>Optical plants + reverse vending machines.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756648" y="1188720"/>
            <a:ext cx="2240280" cy="4114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756648" y="1188720"/>
            <a:ext cx="2240280" cy="914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893808" y="1417320"/>
            <a:ext cx="1965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D47A1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66376" y="196596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12121"/>
                </a:solidFill>
                <a:latin typeface="Calibri"/>
                <a:ea typeface="Calibri"/>
                <a:cs typeface="Calibri"/>
              </a:rPr>
              <a:t>Circular re-entry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66376" y="2926080"/>
            <a:ext cx="20116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5F6B6E"/>
                </a:solidFill>
                <a:latin typeface="Calibri"/>
                <a:ea typeface="Calibri"/>
                <a:cs typeface="Calibri"/>
              </a:rPr>
              <a:t>Compost, pellets, glass remelt, bottle refill.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11480" y="5486400"/>
            <a:ext cx="11338560" cy="868680"/>
          </a:xfrm>
          <a:prstGeom prst="roundRect">
            <a:avLst>
              <a:gd name="adj" fmla="val 8000"/>
            </a:avLst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" y="56692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12121"/>
                </a:solidFill>
                <a:latin typeface="Calibri"/>
                <a:ea typeface="Calibri"/>
                <a:cs typeface="Calibri"/>
              </a:rPr>
              <a:t>If step 1 fails, steps 3–5 become expensive theatre. Pakistan’s work begins in the kitchen.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65653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5F6B6E"/>
                </a:solidFill>
                <a:latin typeface="Calibri"/>
                <a:ea typeface="Calibri"/>
                <a:cs typeface="Calibri"/>
              </a:rPr>
              <a:t>RING GREEN PAKISTAN  ·  4TH SESSION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09760" y="6565392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5F6B6E"/>
                </a:solidFill>
                <a:latin typeface="Calibri"/>
                <a:ea typeface="Calibri"/>
                <a:cs typeface="Calibri"/>
              </a:rPr>
              <a:t>11  /  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FBC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62828"/>
                </a:solidFill>
                <a:latin typeface="Calibri"/>
                <a:ea typeface="Calibri"/>
                <a:cs typeface="Calibri"/>
              </a:rPr>
              <a:t>PAKISTAN · CURRENT REALITY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572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212121"/>
                </a:solidFill>
                <a:latin typeface="Calibri"/>
                <a:ea typeface="Calibri"/>
                <a:cs typeface="Calibri"/>
              </a:rPr>
              <a:t>We already collect — mixed, late, and often burning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143000"/>
            <a:ext cx="2788920" cy="2286000"/>
          </a:xfrm>
          <a:prstGeom prst="roundRect">
            <a:avLst>
              <a:gd name="adj" fmla="val 8000"/>
            </a:avLst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280160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C62828"/>
                </a:solidFill>
                <a:latin typeface="Calibri"/>
                <a:ea typeface="Calibri"/>
                <a:cs typeface="Calibri"/>
              </a:rPr>
              <a:t>Mixed dumping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83080"/>
            <a:ext cx="25146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12121"/>
                </a:solidFill>
                <a:latin typeface="Calibri"/>
                <a:ea typeface="Calibri"/>
                <a:cs typeface="Calibri"/>
              </a:rPr>
              <a:t>Everything in one bag. Plastic/glass value dies on contact with wet waste.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3611880"/>
            <a:ext cx="2788920" cy="2286000"/>
          </a:xfrm>
          <a:prstGeom prst="roundRect">
            <a:avLst>
              <a:gd name="adj" fmla="val 8000"/>
            </a:avLst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749040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C62828"/>
                </a:solidFill>
                <a:latin typeface="Calibri"/>
                <a:ea typeface="Calibri"/>
                <a:cs typeface="Calibri"/>
              </a:rPr>
              <a:t>Landfills &amp; nullahs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251960"/>
            <a:ext cx="25146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12121"/>
                </a:solidFill>
                <a:latin typeface="Calibri"/>
                <a:ea typeface="Calibri"/>
                <a:cs typeface="Calibri"/>
              </a:rPr>
              <a:t>Unorganized dumps and drain blockages. Monsoon turns trash into floods.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37560" y="1143000"/>
            <a:ext cx="2788920" cy="2286000"/>
          </a:xfrm>
          <a:prstGeom prst="roundRect">
            <a:avLst>
              <a:gd name="adj" fmla="val 8000"/>
            </a:avLst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0" y="1280160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C62828"/>
                </a:solidFill>
                <a:latin typeface="Calibri"/>
                <a:ea typeface="Calibri"/>
                <a:cs typeface="Calibri"/>
              </a:rPr>
              <a:t>Open burning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1783080"/>
            <a:ext cx="25146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12121"/>
                </a:solidFill>
                <a:latin typeface="Calibri"/>
                <a:ea typeface="Calibri"/>
                <a:cs typeface="Calibri"/>
              </a:rPr>
              <a:t>Neighbourhood piles become toxic smoke — a hospital invoice.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37560" y="3611880"/>
            <a:ext cx="2788920" cy="2286000"/>
          </a:xfrm>
          <a:prstGeom prst="roundRect">
            <a:avLst>
              <a:gd name="adj" fmla="val 8000"/>
            </a:avLst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74720" y="3749040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C62828"/>
                </a:solidFill>
                <a:latin typeface="Calibri"/>
                <a:ea typeface="Calibri"/>
                <a:cs typeface="Calibri"/>
              </a:rPr>
              <a:t>Informal risk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4251960"/>
            <a:ext cx="25146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12121"/>
                </a:solidFill>
                <a:latin typeface="Calibri"/>
                <a:ea typeface="Calibri"/>
                <a:cs typeface="Calibri"/>
              </a:rPr>
              <a:t>Kabbadiwalas work without PPE in contaminated heaps.</a:t>
            </a:r>
          </a:p>
        </p:txBody>
      </p:sp>
      <p:pic>
        <p:nvPicPr>
          <p:cNvPr id="19" name="Picture 18" descr="pakistan-waste-contras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143000"/>
            <a:ext cx="5440680" cy="475488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365760" y="65653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5F6B6E"/>
                </a:solidFill>
                <a:latin typeface="Calibri"/>
                <a:ea typeface="Calibri"/>
                <a:cs typeface="Calibri"/>
              </a:rPr>
              <a:t>RING GREEN PAKISTAN  ·  4TH SESSION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09760" y="6565392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5F6B6E"/>
                </a:solidFill>
                <a:latin typeface="Calibri"/>
                <a:ea typeface="Calibri"/>
                <a:cs typeface="Calibri"/>
              </a:rPr>
              <a:t>12  /  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FBC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E7D32"/>
                </a:solidFill>
                <a:latin typeface="Calibri"/>
                <a:ea typeface="Calibri"/>
                <a:cs typeface="Calibri"/>
              </a:rPr>
              <a:t>HOW PAKISTAN ACHIEVES THIS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572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12121"/>
                </a:solidFill>
                <a:latin typeface="Calibri"/>
                <a:ea typeface="Calibri"/>
                <a:cs typeface="Calibri"/>
              </a:rPr>
              <a:t>Four phases — do not copy Germany’s 4 bins on day one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188720"/>
            <a:ext cx="2788920" cy="4937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188720"/>
            <a:ext cx="2788920" cy="10972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463040"/>
            <a:ext cx="2514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12121"/>
                </a:solidFill>
                <a:latin typeface="Calibri"/>
                <a:ea typeface="Calibri"/>
                <a:cs typeface="Calibri"/>
              </a:rPr>
              <a:t>01  Two-bin home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834640"/>
            <a:ext cx="2514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F6B6E"/>
                </a:solidFill>
                <a:latin typeface="Calibri"/>
                <a:ea typeface="Calibri"/>
                <a:cs typeface="Calibri"/>
              </a:rPr>
              <a:t>Green = organic/wet. Blue = dry recyclables. Master two streams before four.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91840" y="1188720"/>
            <a:ext cx="2788920" cy="4937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91840" y="1188720"/>
            <a:ext cx="2788920" cy="109728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29000" y="1463040"/>
            <a:ext cx="2514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12121"/>
                </a:solidFill>
                <a:latin typeface="Calibri"/>
                <a:ea typeface="Calibri"/>
                <a:cs typeface="Calibri"/>
              </a:rPr>
              <a:t>02  Community hubs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2834640"/>
            <a:ext cx="2514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F6B6E"/>
                </a:solidFill>
                <a:latin typeface="Calibri"/>
                <a:ea typeface="Calibri"/>
                <a:cs typeface="Calibri"/>
              </a:rPr>
              <a:t>Neighbourhood collection points (Lyari/Karachi-style pilots) with scheduled pickup.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188720"/>
            <a:ext cx="2788920" cy="4937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1188720"/>
            <a:ext cx="2788920" cy="109728"/>
          </a:xfrm>
          <a:prstGeom prst="rect">
            <a:avLst/>
          </a:prstGeom>
          <a:solidFill>
            <a:srgbClr val="FBC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1463040"/>
            <a:ext cx="2514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12121"/>
                </a:solidFill>
                <a:latin typeface="Calibri"/>
                <a:ea typeface="Calibri"/>
                <a:cs typeface="Calibri"/>
              </a:rPr>
              <a:t>03  Formalize kabbadi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834640"/>
            <a:ext cx="2514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F6B6E"/>
                </a:solidFill>
                <a:latin typeface="Calibri"/>
                <a:ea typeface="Calibri"/>
                <a:cs typeface="Calibri"/>
              </a:rPr>
              <a:t>Scrap dealers into official centres: ID, fair rates, PPE, clean buy-back.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0" y="1188720"/>
            <a:ext cx="2788920" cy="4937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44000" y="1188720"/>
            <a:ext cx="2788920" cy="109728"/>
          </a:xfrm>
          <a:prstGeom prst="rect">
            <a:avLst/>
          </a:prstGeom>
          <a:solidFill>
            <a:srgbClr val="6D4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81160" y="1463040"/>
            <a:ext cx="2514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12121"/>
                </a:solidFill>
                <a:latin typeface="Calibri"/>
                <a:ea typeface="Calibri"/>
                <a:cs typeface="Calibri"/>
              </a:rPr>
              <a:t>04  Local Pfand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81160" y="2834640"/>
            <a:ext cx="2514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F6B6E"/>
                </a:solidFill>
                <a:latin typeface="Calibri"/>
                <a:ea typeface="Calibri"/>
                <a:cs typeface="Calibri"/>
              </a:rPr>
              <a:t>Small cash refund for PET at kiryana stores. Rs 5–10 trains the same muscle as €0.25.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5653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5F6B6E"/>
                </a:solidFill>
                <a:latin typeface="Calibri"/>
                <a:ea typeface="Calibri"/>
                <a:cs typeface="Calibri"/>
              </a:rPr>
              <a:t>RING GREEN PAKISTAN  ·  4TH SESSION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09760" y="6565392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5F6B6E"/>
                </a:solidFill>
                <a:latin typeface="Calibri"/>
                <a:ea typeface="Calibri"/>
                <a:cs typeface="Calibri"/>
              </a:rPr>
              <a:t>13  /  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FBC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E7D32"/>
                </a:solidFill>
                <a:latin typeface="Calibri"/>
                <a:ea typeface="Calibri"/>
                <a:cs typeface="Calibri"/>
              </a:rPr>
              <a:t>BENEFITS IF WE APPLY THIS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57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212121"/>
                </a:solidFill>
                <a:latin typeface="Calibri"/>
                <a:ea typeface="Calibri"/>
                <a:cs typeface="Calibri"/>
              </a:rPr>
              <a:t>What Pakistan gains when sorting becomes normal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097280"/>
            <a:ext cx="5669280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097280"/>
            <a:ext cx="5669280" cy="914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28016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7D32"/>
                </a:solidFill>
                <a:latin typeface="Calibri"/>
                <a:ea typeface="Calibri"/>
                <a:cs typeface="Calibri"/>
              </a:rPr>
              <a:t>ENVIRONMENTAL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691640"/>
            <a:ext cx="53035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212121"/>
                </a:solidFill>
                <a:latin typeface="Calibri"/>
                <a:ea typeface="Calibri"/>
                <a:cs typeface="Calibri"/>
              </a:rPr>
              <a:t>•  Cleaner streets and parks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12121"/>
                </a:solidFill>
                <a:latin typeface="Calibri"/>
                <a:ea typeface="Calibri"/>
                <a:cs typeface="Calibri"/>
              </a:rPr>
              <a:t>•  Unclogged drains → less monsoon flooding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12121"/>
                </a:solidFill>
                <a:latin typeface="Calibri"/>
                <a:ea typeface="Calibri"/>
                <a:cs typeface="Calibri"/>
              </a:rPr>
              <a:t>•  Less open burning → cleaner air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097280"/>
            <a:ext cx="5669280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097280"/>
            <a:ext cx="5669280" cy="914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28016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D47A1"/>
                </a:solidFill>
                <a:latin typeface="Calibri"/>
                <a:ea typeface="Calibri"/>
                <a:cs typeface="Calibri"/>
              </a:rPr>
              <a:t>ECONOMIC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1691640"/>
            <a:ext cx="53035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212121"/>
                </a:solidFill>
                <a:latin typeface="Calibri"/>
                <a:ea typeface="Calibri"/>
                <a:cs typeface="Calibri"/>
              </a:rPr>
              <a:t>•  Jobs in formal sorting units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12121"/>
                </a:solidFill>
                <a:latin typeface="Calibri"/>
                <a:ea typeface="Calibri"/>
                <a:cs typeface="Calibri"/>
              </a:rPr>
              <a:t>•  Compost revenue for agriculture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12121"/>
                </a:solidFill>
                <a:latin typeface="Calibri"/>
                <a:ea typeface="Calibri"/>
                <a:cs typeface="Calibri"/>
              </a:rPr>
              <a:t>•  Recyclate sales instead of imports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3703320"/>
            <a:ext cx="5669280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1480" y="3703320"/>
            <a:ext cx="5669280" cy="91440"/>
          </a:xfrm>
          <a:prstGeom prst="rect">
            <a:avLst/>
          </a:prstGeom>
          <a:solidFill>
            <a:srgbClr val="FBC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388620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BC02D"/>
                </a:solidFill>
                <a:latin typeface="Calibri"/>
                <a:ea typeface="Calibri"/>
                <a:cs typeface="Calibri"/>
              </a:rPr>
              <a:t>HEALTH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4297680"/>
            <a:ext cx="53035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212121"/>
                </a:solidFill>
                <a:latin typeface="Calibri"/>
                <a:ea typeface="Calibri"/>
                <a:cs typeface="Calibri"/>
              </a:rPr>
              <a:t>•  Fewer dengue / malaria vectors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12121"/>
                </a:solidFill>
                <a:latin typeface="Calibri"/>
                <a:ea typeface="Calibri"/>
                <a:cs typeface="Calibri"/>
              </a:rPr>
              <a:t>•  Less toxic fume exposure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12121"/>
                </a:solidFill>
                <a:latin typeface="Calibri"/>
                <a:ea typeface="Calibri"/>
                <a:cs typeface="Calibri"/>
              </a:rPr>
              <a:t>•  Safer work for waste pickers with PPE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3703320"/>
            <a:ext cx="5669280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63640" y="3703320"/>
            <a:ext cx="5669280" cy="91440"/>
          </a:xfrm>
          <a:prstGeom prst="rect">
            <a:avLst/>
          </a:prstGeom>
          <a:solidFill>
            <a:srgbClr val="6D4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388620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D4C41"/>
                </a:solidFill>
                <a:latin typeface="Calibri"/>
                <a:ea typeface="Calibri"/>
                <a:cs typeface="Calibri"/>
              </a:rPr>
              <a:t>ENERGY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4297680"/>
            <a:ext cx="53035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212121"/>
                </a:solidFill>
                <a:latin typeface="Calibri"/>
                <a:ea typeface="Calibri"/>
                <a:cs typeface="Calibri"/>
              </a:rPr>
              <a:t>•  Biogas from organic biomass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12121"/>
                </a:solidFill>
                <a:latin typeface="Calibri"/>
                <a:ea typeface="Calibri"/>
                <a:cs typeface="Calibri"/>
              </a:rPr>
              <a:t>•  Lower landfill methane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12121"/>
                </a:solidFill>
                <a:latin typeface="Calibri"/>
                <a:ea typeface="Calibri"/>
                <a:cs typeface="Calibri"/>
              </a:rPr>
              <a:t>•  Waste-to-energy potential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5653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5F6B6E"/>
                </a:solidFill>
                <a:latin typeface="Calibri"/>
                <a:ea typeface="Calibri"/>
                <a:cs typeface="Calibri"/>
              </a:rPr>
              <a:t>RING GREEN PAKISTAN  ·  4TH SESSION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09760" y="6565392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5F6B6E"/>
                </a:solidFill>
                <a:latin typeface="Calibri"/>
                <a:ea typeface="Calibri"/>
                <a:cs typeface="Calibri"/>
              </a:rPr>
              <a:t>14  /  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FBC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62828"/>
                </a:solidFill>
                <a:latin typeface="Calibri"/>
                <a:ea typeface="Calibri"/>
                <a:cs typeface="Calibri"/>
              </a:rPr>
              <a:t>IF WE DO NOT APPLY THIS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572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C62828"/>
                </a:solidFill>
                <a:latin typeface="Calibri"/>
                <a:ea typeface="Calibri"/>
                <a:cs typeface="Calibri"/>
              </a:rPr>
              <a:t>The punishment of not sorting is already here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143000"/>
            <a:ext cx="5669280" cy="1874519"/>
          </a:xfrm>
          <a:prstGeom prst="roundRect">
            <a:avLst>
              <a:gd name="adj" fmla="val 8000"/>
            </a:avLst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2801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C62828"/>
                </a:solidFill>
                <a:latin typeface="Calibri"/>
                <a:ea typeface="Calibri"/>
                <a:cs typeface="Calibri"/>
              </a:rPr>
              <a:t>Monsoon flooding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691640"/>
            <a:ext cx="5303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12121"/>
                </a:solidFill>
                <a:latin typeface="Calibri"/>
                <a:ea typeface="Calibri"/>
                <a:cs typeface="Calibri"/>
              </a:rPr>
              <a:t>Polythene jams drains. Cities drown on modest rain because gutters are landfills.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143000"/>
            <a:ext cx="5669280" cy="1874519"/>
          </a:xfrm>
          <a:prstGeom prst="roundRect">
            <a:avLst>
              <a:gd name="adj" fmla="val 8000"/>
            </a:avLst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2801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C62828"/>
                </a:solidFill>
                <a:latin typeface="Calibri"/>
                <a:ea typeface="Calibri"/>
                <a:cs typeface="Calibri"/>
              </a:rPr>
              <a:t>Soil &amp; groundwater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1691640"/>
            <a:ext cx="5303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12121"/>
                </a:solidFill>
                <a:latin typeface="Calibri"/>
                <a:ea typeface="Calibri"/>
                <a:cs typeface="Calibri"/>
              </a:rPr>
              <a:t>Open dumps leach into wells and fields. Slow, then permanent.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" y="3154680"/>
            <a:ext cx="5669280" cy="1874519"/>
          </a:xfrm>
          <a:prstGeom prst="roundRect">
            <a:avLst>
              <a:gd name="adj" fmla="val 8000"/>
            </a:avLst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32918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C62828"/>
                </a:solidFill>
                <a:latin typeface="Calibri"/>
                <a:ea typeface="Calibri"/>
                <a:cs typeface="Calibri"/>
              </a:rPr>
              <a:t>Health budget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703320"/>
            <a:ext cx="5303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12121"/>
                </a:solidFill>
                <a:latin typeface="Calibri"/>
                <a:ea typeface="Calibri"/>
                <a:cs typeface="Calibri"/>
              </a:rPr>
              <a:t>Dengue wards, asthma, diarrhoea — the poor pay first.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3154680"/>
            <a:ext cx="5669280" cy="1874519"/>
          </a:xfrm>
          <a:prstGeom prst="roundRect">
            <a:avLst>
              <a:gd name="adj" fmla="val 8000"/>
            </a:avLst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32918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C62828"/>
                </a:solidFill>
                <a:latin typeface="Calibri"/>
                <a:ea typeface="Calibri"/>
                <a:cs typeface="Calibri"/>
              </a:rPr>
              <a:t>Land value &amp; tourism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3703320"/>
            <a:ext cx="5303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12121"/>
                </a:solidFill>
                <a:latin typeface="Calibri"/>
                <a:ea typeface="Calibri"/>
                <a:cs typeface="Calibri"/>
              </a:rPr>
              <a:t>Burning heaps destroy neighbourhood prices and visitor appeal.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1480" y="5257800"/>
            <a:ext cx="11338560" cy="1097280"/>
          </a:xfrm>
          <a:prstGeom prst="roundRect">
            <a:avLst>
              <a:gd name="adj" fmla="val 8000"/>
            </a:avLst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544068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Germany’s ticket is €50–€2,500. Pakistan’s ticket is flooded homes, dengue, and a generation that thinks filth is normal.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65653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5F6B6E"/>
                </a:solidFill>
                <a:latin typeface="Calibri"/>
                <a:ea typeface="Calibri"/>
                <a:cs typeface="Calibri"/>
              </a:rPr>
              <a:t>RING GREEN PAKISTAN  ·  4TH SESSION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09760" y="6565392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5F6B6E"/>
                </a:solidFill>
                <a:latin typeface="Calibri"/>
                <a:ea typeface="Calibri"/>
                <a:cs typeface="Calibri"/>
              </a:rPr>
              <a:t>15  /  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FBC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E7D32"/>
                </a:solidFill>
                <a:latin typeface="Calibri"/>
                <a:ea typeface="Calibri"/>
                <a:cs typeface="Calibri"/>
              </a:rPr>
              <a:t>PAKISTAN POLICY · FINES &amp; REWARDS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57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212121"/>
                </a:solidFill>
                <a:latin typeface="Calibri"/>
                <a:ea typeface="Calibri"/>
                <a:cs typeface="Calibri"/>
              </a:rPr>
              <a:t>Enforcement on one side, incentives on the other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097280"/>
            <a:ext cx="5623560" cy="5074920"/>
          </a:xfrm>
          <a:prstGeom prst="roundRect">
            <a:avLst>
              <a:gd name="adj" fmla="val 8000"/>
            </a:avLst>
          </a:prstGeom>
          <a:solidFill>
            <a:srgbClr val="B7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280160"/>
            <a:ext cx="5257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BC02D"/>
                </a:solidFill>
                <a:latin typeface="Calibri"/>
                <a:ea typeface="Calibri"/>
                <a:cs typeface="Calibri"/>
              </a:rPr>
              <a:t>PENALTIES IF THE RULE IS APPLIED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737360"/>
            <a:ext cx="5257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•  Fines on commercial markets that sweep mixed waste into streets or nullahs.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•  Household citations for dumping in public plots / drains.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•  Repeat building/lane fees when a street keeps mixing streams.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•  Refuse to collect unsorted commercial bins until separated (sticker method).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097280"/>
            <a:ext cx="5577840" cy="5074920"/>
          </a:xfrm>
          <a:prstGeom prst="roundRect">
            <a:avLst>
              <a:gd name="adj" fmla="val 8000"/>
            </a:avLst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28016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BC02D"/>
                </a:solidFill>
                <a:latin typeface="Calibri"/>
                <a:ea typeface="Calibri"/>
                <a:cs typeface="Calibri"/>
              </a:rPr>
              <a:t>INCENTIVES IF A COMMUNITY APPLIES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737360"/>
            <a:ext cx="5212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•  Utility-bill discounts or local rebates for high-recycling neighbourhoods.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•  Official buy-back rates at formal kabbadi centres — cash for clean PET.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•  School sorting drills in Ring Green clubs and board curriculum.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•  Volunteer hours counted as civic credit for youth programmes.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5653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5F6B6E"/>
                </a:solidFill>
                <a:latin typeface="Calibri"/>
                <a:ea typeface="Calibri"/>
                <a:cs typeface="Calibri"/>
              </a:rPr>
              <a:t>RING GREEN PAKISTAN  ·  4TH SESSION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0" y="6565392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5F6B6E"/>
                </a:solidFill>
                <a:latin typeface="Calibri"/>
                <a:ea typeface="Calibri"/>
                <a:cs typeface="Calibri"/>
              </a:rPr>
              <a:t>16  /  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FBC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E7D32"/>
                </a:solidFill>
                <a:latin typeface="Calibri"/>
                <a:ea typeface="Calibri"/>
                <a:cs typeface="Calibri"/>
              </a:rPr>
              <a:t>ACTION CHECKLIST · MEMBERS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572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212121"/>
                </a:solidFill>
                <a:latin typeface="Calibri"/>
                <a:ea typeface="Calibri"/>
                <a:cs typeface="Calibri"/>
              </a:rPr>
              <a:t>Start this week — not after a by-law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143000"/>
            <a:ext cx="566928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2801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D47A1"/>
                </a:solidFill>
                <a:latin typeface="Calibri"/>
                <a:ea typeface="Calibri"/>
                <a:cs typeface="Calibri"/>
              </a:rPr>
              <a:t>01  Sort at home today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783080"/>
            <a:ext cx="5303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12121"/>
                </a:solidFill>
                <a:latin typeface="Calibri"/>
                <a:ea typeface="Calibri"/>
                <a:cs typeface="Calibri"/>
              </a:rPr>
              <a:t>Two bags: organic scraps vs dry plastics/paper/metal. Teach the cook and the youngest sibling.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143000"/>
            <a:ext cx="566928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2801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D47A1"/>
                </a:solidFill>
                <a:latin typeface="Calibri"/>
                <a:ea typeface="Calibri"/>
                <a:cs typeface="Calibri"/>
              </a:rPr>
              <a:t>02  Protect the drain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1783080"/>
            <a:ext cx="5303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12121"/>
                </a:solidFill>
                <a:latin typeface="Calibri"/>
                <a:ea typeface="Calibri"/>
                <a:cs typeface="Calibri"/>
              </a:rPr>
              <a:t>No wrapper in the gali nala. A blocked drain is a shared flood.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" y="3429000"/>
            <a:ext cx="566928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35661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D47A1"/>
                </a:solidFill>
                <a:latin typeface="Calibri"/>
                <a:ea typeface="Calibri"/>
                <a:cs typeface="Calibri"/>
              </a:rPr>
              <a:t>03  Ask for bins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069080"/>
            <a:ext cx="5303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12121"/>
                </a:solidFill>
                <a:latin typeface="Calibri"/>
                <a:ea typeface="Calibri"/>
                <a:cs typeface="Calibri"/>
              </a:rPr>
              <a:t>Advocate UC / municipal colour bins at the chowk and the school gate.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3429000"/>
            <a:ext cx="566928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35661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D47A1"/>
                </a:solidFill>
                <a:latin typeface="Calibri"/>
                <a:ea typeface="Calibri"/>
                <a:cs typeface="Calibri"/>
              </a:rPr>
              <a:t>04  Show up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4069080"/>
            <a:ext cx="5303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12121"/>
                </a:solidFill>
                <a:latin typeface="Calibri"/>
                <a:ea typeface="Calibri"/>
                <a:cs typeface="Calibri"/>
              </a:rPr>
              <a:t>Cleanup drives. One kabbadi contact as the lane’s buy-back point.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5653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5F6B6E"/>
                </a:solidFill>
                <a:latin typeface="Calibri"/>
                <a:ea typeface="Calibri"/>
                <a:cs typeface="Calibri"/>
              </a:rPr>
              <a:t>RING GREEN PAKISTAN  ·  4TH SESSION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09760" y="6565392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5F6B6E"/>
                </a:solidFill>
                <a:latin typeface="Calibri"/>
                <a:ea typeface="Calibri"/>
                <a:cs typeface="Calibri"/>
              </a:rPr>
              <a:t>17  /  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een-pakistan-fu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7680960" cy="6858000"/>
          </a:xfrm>
          <a:prstGeom prst="rect">
            <a:avLst/>
          </a:prstGeom>
          <a:solidFill>
            <a:srgbClr val="0D1B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BC02D"/>
                </a:solidFill>
                <a:latin typeface="Calibri"/>
                <a:ea typeface="Calibri"/>
                <a:cs typeface="Calibri"/>
              </a:rPr>
              <a:t>RING GREEN PAKISTAN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6858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Building a sustainable future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26080"/>
            <a:ext cx="6675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Small daily actions lead to country-wide transformation. Let’s make Pakistan clean and green.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709160"/>
            <a:ext cx="3657600" cy="1325880"/>
          </a:xfrm>
          <a:prstGeom prst="roundRect">
            <a:avLst>
              <a:gd name="adj" fmla="val 8000"/>
            </a:avLst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484632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BC02D"/>
                </a:solidFill>
                <a:latin typeface="Calibri"/>
                <a:ea typeface="Calibri"/>
                <a:cs typeface="Calibri"/>
              </a:rPr>
              <a:t>Q&amp;A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21208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Bins, Pfand, and your gali pilot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4709160"/>
            <a:ext cx="3657600" cy="1325880"/>
          </a:xfrm>
          <a:prstGeom prst="roundRect">
            <a:avLst>
              <a:gd name="adj" fmla="val 8000"/>
            </a:avLst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484632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BC02D"/>
                </a:solidFill>
                <a:latin typeface="Calibri"/>
                <a:ea typeface="Calibri"/>
                <a:cs typeface="Calibri"/>
              </a:rPr>
              <a:t>CONNECT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521208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@RingGreenPakistan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4709160"/>
            <a:ext cx="3657600" cy="1325880"/>
          </a:xfrm>
          <a:prstGeom prst="roundRect">
            <a:avLst>
              <a:gd name="adj" fmla="val 8000"/>
            </a:avLst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20" y="484632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BC02D"/>
                </a:solidFill>
                <a:latin typeface="Calibri"/>
                <a:ea typeface="Calibri"/>
                <a:cs typeface="Calibri"/>
              </a:rPr>
              <a:t>THANK YOU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521208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4th Session · Mülltrennung &amp; Pfand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5653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5F6B6E"/>
                </a:solidFill>
                <a:latin typeface="Calibri"/>
                <a:ea typeface="Calibri"/>
                <a:cs typeface="Calibri"/>
              </a:rPr>
              <a:t>RING GREEN PAKISTAN  ·  4TH SESSION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09760" y="6565392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5F6B6E"/>
                </a:solidFill>
                <a:latin typeface="Calibri"/>
                <a:ea typeface="Calibri"/>
                <a:cs typeface="Calibri"/>
              </a:rPr>
              <a:t>18  / 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